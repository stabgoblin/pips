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PIPS: Predictive Infrastructure Planning System</a:t>
            </a:r>
          </a:p>
          <a:p>
            <a:pPr>
              <a:spcAft>
                <a:spcPts val="2800"/>
              </a:spcAft>
              <a:defRPr sz="1800">
                <a:solidFill>
                  <a:srgbClr val="93C5FD"/>
                </a:solidFill>
              </a:defRPr>
            </a:pPr>
            <a:r>
              <a:t>A GeoAI &amp; Network Optimization System for Proactive Campus Infrastructure Planning</a:t>
            </a:r>
          </a:p>
          <a:p>
            <a:pPr>
              <a:spcAft>
                <a:spcPts val="1000"/>
              </a:spcAft>
              <a:defRPr sz="1300" b="1">
                <a:solidFill>
                  <a:srgbClr val="E2E8F0"/>
                </a:solidFill>
              </a:defRPr>
            </a:pPr>
            <a:r>
              <a:t>PROJECT STATUS REVIEW &amp; ARCHITECTURE PRESENTATION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Covers: Project Summary | 6 Modules &amp; Working Principles | Work Done Till Now | Work Pending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5303520"/>
            <a:ext cx="10360152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CBD5E1"/>
                </a:solidFill>
              </a:defRPr>
            </a:pPr>
            <a:r>
              <a:t>Key Technologies: GIS &amp; GeoPandas | NetworkX Graph Analytics | Scikit-Learn &amp; Statsmodels | PuLP ILP Siter | FastAPI |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INTRODUCTION &amp; CONTEXT</a:t>
            </a:r>
            <a:r>
              <a:rPr lang="en-US"/>
              <a:t>`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Executive Summary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76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C2626"/>
                </a:solidFill>
              </a:defRPr>
            </a:pPr>
            <a:r>
              <a:rPr sz="2000" dirty="0"/>
              <a:t>Current Bottleneck: Reactive Planning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Lagging Decisions: </a:t>
            </a:r>
            <a:r>
              <a:rPr sz="1400" dirty="0">
                <a:solidFill>
                  <a:srgbClr val="64748B"/>
                </a:solidFill>
              </a:rPr>
              <a:t>New hostels and lecture halls are commissioned only AFTER overcrowding, bed deficits, and classroom congestion have already occurred.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Intuitive / Political Siting: </a:t>
            </a:r>
            <a:r>
              <a:rPr sz="1400" dirty="0">
                <a:solidFill>
                  <a:srgbClr val="64748B"/>
                </a:solidFill>
              </a:rPr>
              <a:t>Site selection for new construction is manual and political, ignoring pedestrian walking times, topological networks, and zoning constraints.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Unused Predictive Signals: </a:t>
            </a:r>
            <a:r>
              <a:rPr sz="1400" dirty="0">
                <a:solidFill>
                  <a:srgbClr val="64748B"/>
                </a:solidFill>
              </a:rPr>
              <a:t>Rich entrance exam indicators (JEE/</a:t>
            </a:r>
            <a:r>
              <a:rPr sz="1400" dirty="0" err="1">
                <a:solidFill>
                  <a:srgbClr val="64748B"/>
                </a:solidFill>
              </a:rPr>
              <a:t>JoSAA</a:t>
            </a:r>
            <a:r>
              <a:rPr sz="1400" dirty="0">
                <a:solidFill>
                  <a:srgbClr val="64748B"/>
                </a:solidFill>
              </a:rPr>
              <a:t> applicant counts, cutoffs, pass rates) are archived as static records rather than leveraged for multi-year enrollment projections.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Campus Scale Complexity: </a:t>
            </a:r>
            <a:r>
              <a:rPr sz="1400" dirty="0">
                <a:solidFill>
                  <a:srgbClr val="64748B"/>
                </a:solidFill>
              </a:rPr>
              <a:t>On large campuses (200+ acres), placing facilities poorly causes cumulative commute fatigue for thousands of students daily.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376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rPr sz="2000" dirty="0"/>
              <a:t>The PIPS Solution: Proactive &amp; Scientific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Multi-Year Predictive Forecasting: </a:t>
            </a:r>
            <a:r>
              <a:rPr sz="1400" dirty="0">
                <a:solidFill>
                  <a:srgbClr val="64748B"/>
                </a:solidFill>
              </a:rPr>
              <a:t>Translates national entrance examination trends into 1-to-5-year seat demand trajectories per academic department.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Threshold-Driven Capacity Alerts: </a:t>
            </a:r>
            <a:r>
              <a:rPr sz="1400" dirty="0">
                <a:solidFill>
                  <a:srgbClr val="64748B"/>
                </a:solidFill>
              </a:rPr>
              <a:t>Continuously tracks utilization ratios (students/bed, students/seat) and triggers warnings BEFORE 85% safety limits are breached.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Mathematical Siting (p-Median): </a:t>
            </a:r>
            <a:r>
              <a:rPr sz="1400" dirty="0">
                <a:solidFill>
                  <a:srgbClr val="64748B"/>
                </a:solidFill>
              </a:rPr>
              <a:t>Formulates facility location as an Integer Linear Program (ILP) on a digitized walkability graph to minimize aggregate student walking distance.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Interactive Decision Dashboard: </a:t>
            </a:r>
            <a:r>
              <a:rPr sz="1400" dirty="0">
                <a:solidFill>
                  <a:srgbClr val="64748B"/>
                </a:solidFill>
              </a:rPr>
              <a:t>Provides campus planners with an interactive GIS map, scenario simulation sliders, and visual decision-support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End-to-End Working Principle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71800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rPr dirty="0"/>
              <a:t>1. Data &amp; Spatial Layer</a:t>
            </a:r>
          </a:p>
          <a:p>
            <a:pPr>
              <a:spcAft>
                <a:spcPts val="1000"/>
              </a:spcAft>
            </a:pPr>
            <a:r>
              <a:rPr b="1" dirty="0">
                <a:solidFill>
                  <a:srgbClr val="0F172A"/>
                </a:solidFill>
              </a:rPr>
              <a:t>• Entrance Exam History
  </a:t>
            </a:r>
            <a:r>
              <a:rPr sz="1600" dirty="0">
                <a:solidFill>
                  <a:srgbClr val="64748B"/>
                </a:solidFill>
              </a:rPr>
              <a:t>10-year CSV data: applicants, ranks, cutoffs, seat intake.</a:t>
            </a:r>
          </a:p>
          <a:p>
            <a:pPr>
              <a:spcAft>
                <a:spcPts val="1000"/>
              </a:spcAft>
            </a:pPr>
            <a:r>
              <a:rPr b="1" dirty="0">
                <a:solidFill>
                  <a:srgbClr val="0F172A"/>
                </a:solidFill>
              </a:rPr>
              <a:t>• Campus GIS Digitization
  </a:t>
            </a:r>
            <a:r>
              <a:rPr sz="1600" dirty="0">
                <a:solidFill>
                  <a:srgbClr val="64748B"/>
                </a:solidFill>
              </a:rPr>
              <a:t>QGIS footprints for buildings, candidate parcels, and walkable paths.</a:t>
            </a:r>
          </a:p>
          <a:p>
            <a:pPr>
              <a:spcAft>
                <a:spcPts val="1000"/>
              </a:spcAft>
            </a:pPr>
            <a:r>
              <a:rPr b="1" dirty="0">
                <a:solidFill>
                  <a:srgbClr val="0F172A"/>
                </a:solidFill>
              </a:rPr>
              <a:t>• </a:t>
            </a:r>
            <a:r>
              <a:rPr b="1" dirty="0" err="1">
                <a:solidFill>
                  <a:srgbClr val="0F172A"/>
                </a:solidFill>
              </a:rPr>
              <a:t>GeoJSON</a:t>
            </a:r>
            <a:r>
              <a:rPr b="1" dirty="0">
                <a:solidFill>
                  <a:srgbClr val="0F172A"/>
                </a:solidFill>
              </a:rPr>
              <a:t> Conversion
  </a:t>
            </a:r>
            <a:r>
              <a:rPr sz="1600" dirty="0">
                <a:solidFill>
                  <a:srgbClr val="64748B"/>
                </a:solidFill>
              </a:rPr>
              <a:t>Standardized coordinate layers with building attributes &amp; capacities.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29718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7C3AED"/>
                </a:solidFill>
              </a:defRPr>
            </a:pPr>
            <a:r>
              <a:rPr dirty="0"/>
              <a:t>2. Analytics &amp; Solvers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0F172A"/>
                </a:solidFill>
              </a:rPr>
              <a:t>• Demand Engine (Module 2)
  </a:t>
            </a:r>
            <a:r>
              <a:rPr sz="1400" dirty="0">
                <a:solidFill>
                  <a:srgbClr val="64748B"/>
                </a:solidFill>
              </a:rPr>
              <a:t>Polynomial Ridge &amp; Holt-Winters forecasting with auto model selection.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0F172A"/>
                </a:solidFill>
              </a:rPr>
              <a:t>• Capacity Monitor (Module 3)
  </a:t>
            </a:r>
            <a:r>
              <a:rPr sz="1400" dirty="0">
                <a:solidFill>
                  <a:srgbClr val="64748B"/>
                </a:solidFill>
              </a:rPr>
              <a:t>Utilization ratios &amp; configurable threshold breach detection.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0F172A"/>
                </a:solidFill>
              </a:rPr>
              <a:t>• Network Graph &amp; Shortest Paths
  </a:t>
            </a:r>
            <a:r>
              <a:rPr sz="1400" dirty="0" err="1">
                <a:solidFill>
                  <a:srgbClr val="64748B"/>
                </a:solidFill>
              </a:rPr>
              <a:t>NetworkX</a:t>
            </a:r>
            <a:r>
              <a:rPr sz="1400" dirty="0">
                <a:solidFill>
                  <a:srgbClr val="64748B"/>
                </a:solidFill>
              </a:rPr>
              <a:t> Dijkstra walking distance matrix on pedestrian graph.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0F172A"/>
                </a:solidFill>
              </a:rPr>
              <a:t>• p-Median Optimizer (Module 5)
  </a:t>
            </a:r>
            <a:r>
              <a:rPr sz="1400" dirty="0" err="1">
                <a:solidFill>
                  <a:srgbClr val="64748B"/>
                </a:solidFill>
              </a:rPr>
              <a:t>PuLP</a:t>
            </a:r>
            <a:r>
              <a:rPr sz="1400" dirty="0">
                <a:solidFill>
                  <a:srgbClr val="64748B"/>
                </a:solidFill>
              </a:rPr>
              <a:t> ILP solver finding optimal sites minimizing walking distance.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80" y="1691640"/>
            <a:ext cx="2971800" cy="4575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rPr dirty="0"/>
              <a:t>3. Decision Support Interface</a:t>
            </a:r>
          </a:p>
          <a:p>
            <a:pPr>
              <a:spcAft>
                <a:spcPts val="1000"/>
              </a:spcAft>
            </a:pPr>
            <a:r>
              <a:rPr b="1" dirty="0">
                <a:solidFill>
                  <a:srgbClr val="0F172A"/>
                </a:solidFill>
              </a:rPr>
              <a:t>• </a:t>
            </a:r>
            <a:r>
              <a:rPr b="1" dirty="0" err="1">
                <a:solidFill>
                  <a:srgbClr val="0F172A"/>
                </a:solidFill>
              </a:rPr>
              <a:t>FastAPI</a:t>
            </a:r>
            <a:r>
              <a:rPr b="1" dirty="0">
                <a:solidFill>
                  <a:srgbClr val="0F172A"/>
                </a:solidFill>
              </a:rPr>
              <a:t> Backend (Module 6)
  </a:t>
            </a:r>
            <a:r>
              <a:rPr sz="1600" dirty="0">
                <a:solidFill>
                  <a:srgbClr val="64748B"/>
                </a:solidFill>
              </a:rPr>
              <a:t>High-performance REST API routing requests across all modules.</a:t>
            </a:r>
          </a:p>
          <a:p>
            <a:pPr>
              <a:spcAft>
                <a:spcPts val="1000"/>
              </a:spcAft>
            </a:pPr>
            <a:r>
              <a:rPr b="1" dirty="0">
                <a:solidFill>
                  <a:srgbClr val="0F172A"/>
                </a:solidFill>
              </a:rPr>
              <a:t>• Interactive </a:t>
            </a:r>
            <a:r>
              <a:rPr b="1" dirty="0" err="1">
                <a:solidFill>
                  <a:srgbClr val="0F172A"/>
                </a:solidFill>
              </a:rPr>
              <a:t>Streamlit</a:t>
            </a:r>
            <a:r>
              <a:rPr b="1" dirty="0">
                <a:solidFill>
                  <a:srgbClr val="0F172A"/>
                </a:solidFill>
              </a:rPr>
              <a:t> UI
  </a:t>
            </a:r>
            <a:r>
              <a:rPr sz="1600" dirty="0">
                <a:solidFill>
                  <a:srgbClr val="64748B"/>
                </a:solidFill>
              </a:rPr>
              <a:t>Folium Leaflet campus maps, scenario sliders &amp; metric dashboards.</a:t>
            </a:r>
          </a:p>
          <a:p>
            <a:pPr>
              <a:spcAft>
                <a:spcPts val="1000"/>
              </a:spcAft>
            </a:pPr>
            <a:r>
              <a:rPr b="1" dirty="0">
                <a:solidFill>
                  <a:srgbClr val="0F172A"/>
                </a:solidFill>
              </a:rPr>
              <a:t>• Closed-Loop Feedback
  </a:t>
            </a:r>
            <a:r>
              <a:rPr sz="1600" dirty="0">
                <a:solidFill>
                  <a:srgbClr val="64748B"/>
                </a:solidFill>
              </a:rPr>
              <a:t>Approved constructions update the GIS network graph dynamically.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CAMPUS SPATIAL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1: GIS &amp; Campus Network Base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566928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rPr sz="2400" dirty="0"/>
              <a:t>Core Working Principle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0F172A"/>
                </a:solidFill>
              </a:rPr>
              <a:t>• Spatial Digitization in QGIS: </a:t>
            </a:r>
            <a:r>
              <a:rPr sz="1400" dirty="0">
                <a:solidFill>
                  <a:srgbClr val="64748B"/>
                </a:solidFill>
              </a:rPr>
              <a:t>Satellite imagery is used as a basemap to digitize building polygons (academic blocks, hostels, mess, sports), open parcels, and line-string walkable paths.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0F172A"/>
                </a:solidFill>
              </a:rPr>
              <a:t>• Graph Topology Construction: </a:t>
            </a:r>
            <a:r>
              <a:rPr sz="1400" dirty="0">
                <a:solidFill>
                  <a:srgbClr val="64748B"/>
                </a:solidFill>
              </a:rPr>
              <a:t>The vector geometry is ingested via </a:t>
            </a:r>
            <a:r>
              <a:rPr sz="1400" dirty="0" err="1">
                <a:solidFill>
                  <a:srgbClr val="64748B"/>
                </a:solidFill>
              </a:rPr>
              <a:t>GeoPandas</a:t>
            </a:r>
            <a:r>
              <a:rPr sz="1400" dirty="0">
                <a:solidFill>
                  <a:srgbClr val="64748B"/>
                </a:solidFill>
              </a:rPr>
              <a:t> and converted into a </a:t>
            </a:r>
            <a:r>
              <a:rPr sz="1400" dirty="0" err="1">
                <a:solidFill>
                  <a:srgbClr val="64748B"/>
                </a:solidFill>
              </a:rPr>
              <a:t>NetworkX</a:t>
            </a:r>
            <a:r>
              <a:rPr sz="1400" dirty="0">
                <a:solidFill>
                  <a:srgbClr val="64748B"/>
                </a:solidFill>
              </a:rPr>
              <a:t> mathematical graph. Building centroids and path intersections become graph nodes; walkways become graph edges.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0F172A"/>
                </a:solidFill>
              </a:rPr>
              <a:t>• Metric Edge Weighting: </a:t>
            </a:r>
            <a:r>
              <a:rPr sz="1400" dirty="0">
                <a:solidFill>
                  <a:srgbClr val="64748B"/>
                </a:solidFill>
              </a:rPr>
              <a:t>Haversine geodesic distance calculates the precise physical walking distance in meters between every pair of connected nodes.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0F172A"/>
                </a:solidFill>
              </a:rPr>
              <a:t>• Access Edge Binding: </a:t>
            </a:r>
            <a:r>
              <a:rPr sz="1400" dirty="0">
                <a:solidFill>
                  <a:srgbClr val="64748B"/>
                </a:solidFill>
              </a:rPr>
              <a:t>Building centroid nodes are automatically connected to nearby path intersections within a 50m threshold radius, forming an integrated walkable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63040"/>
            <a:ext cx="4206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0" y="1645920"/>
            <a:ext cx="3749039" cy="381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rPr sz="2400" dirty="0"/>
              <a:t>Module Artifacts &amp; Outputs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10B981"/>
                </a:solidFill>
              </a:rPr>
              <a:t>✔ </a:t>
            </a:r>
            <a:r>
              <a:rPr sz="1600" b="1" dirty="0" err="1">
                <a:solidFill>
                  <a:srgbClr val="10B981"/>
                </a:solidFill>
              </a:rPr>
              <a:t>campus_graph.graphml</a:t>
            </a:r>
            <a:r>
              <a:rPr sz="1600" b="1" dirty="0">
                <a:solidFill>
                  <a:srgbClr val="10B981"/>
                </a:solidFill>
              </a:rPr>
              <a:t>: </a:t>
            </a:r>
            <a:r>
              <a:rPr sz="1400" dirty="0">
                <a:solidFill>
                  <a:srgbClr val="64748B"/>
                </a:solidFill>
              </a:rPr>
              <a:t>Persisted </a:t>
            </a:r>
            <a:r>
              <a:rPr sz="1400" dirty="0" err="1">
                <a:solidFill>
                  <a:srgbClr val="64748B"/>
                </a:solidFill>
              </a:rPr>
              <a:t>NetworkX</a:t>
            </a:r>
            <a:r>
              <a:rPr sz="1400" dirty="0">
                <a:solidFill>
                  <a:srgbClr val="64748B"/>
                </a:solidFill>
              </a:rPr>
              <a:t> graph containing nodes, attributes, and weighted walk edges.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10B981"/>
                </a:solidFill>
              </a:rPr>
              <a:t>✔ </a:t>
            </a:r>
            <a:r>
              <a:rPr sz="1600" b="1" dirty="0" err="1">
                <a:solidFill>
                  <a:srgbClr val="10B981"/>
                </a:solidFill>
              </a:rPr>
              <a:t>building_distances.json</a:t>
            </a:r>
            <a:r>
              <a:rPr sz="1600" b="1" dirty="0">
                <a:solidFill>
                  <a:srgbClr val="10B981"/>
                </a:solidFill>
              </a:rPr>
              <a:t>: </a:t>
            </a:r>
            <a:r>
              <a:rPr sz="1400" dirty="0">
                <a:solidFill>
                  <a:srgbClr val="64748B"/>
                </a:solidFill>
              </a:rPr>
              <a:t>Precomputed walking distance matrix between all campus facilities.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10B981"/>
                </a:solidFill>
              </a:rPr>
              <a:t>✔ campus_map.html: </a:t>
            </a:r>
            <a:r>
              <a:rPr sz="1400" dirty="0">
                <a:solidFill>
                  <a:srgbClr val="64748B"/>
                </a:solidFill>
              </a:rPr>
              <a:t>Interactive Leaflet/Folium map rendering building polygons, zones, and walkways.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10B981"/>
                </a:solidFill>
              </a:rPr>
              <a:t>✔ Standard </a:t>
            </a:r>
            <a:r>
              <a:rPr sz="1600" b="1" dirty="0" err="1">
                <a:solidFill>
                  <a:srgbClr val="10B981"/>
                </a:solidFill>
              </a:rPr>
              <a:t>GeoJSON</a:t>
            </a:r>
            <a:r>
              <a:rPr sz="1600" b="1" dirty="0">
                <a:solidFill>
                  <a:srgbClr val="10B981"/>
                </a:solidFill>
              </a:rPr>
              <a:t> Layers: </a:t>
            </a:r>
            <a:r>
              <a:rPr sz="1400" dirty="0">
                <a:solidFill>
                  <a:srgbClr val="64748B"/>
                </a:solidFill>
              </a:rPr>
              <a:t>Clean </a:t>
            </a:r>
            <a:r>
              <a:rPr sz="1400" dirty="0" err="1">
                <a:solidFill>
                  <a:srgbClr val="64748B"/>
                </a:solidFill>
              </a:rPr>
              <a:t>GeoJSON</a:t>
            </a:r>
            <a:r>
              <a:rPr sz="1400" dirty="0">
                <a:solidFill>
                  <a:srgbClr val="64748B"/>
                </a:solidFill>
              </a:rPr>
              <a:t> schemas for buildings and pathways matching QGIS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2: Student Demand Forecasting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5669280" cy="41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rPr lang="en-US" sz="2400" dirty="0"/>
              <a:t>Core Working Principle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0F172A"/>
                </a:solidFill>
              </a:rPr>
              <a:t>• Multi-Metric Ingestion: </a:t>
            </a:r>
            <a:r>
              <a:rPr lang="en-US" sz="1400" dirty="0">
                <a:solidFill>
                  <a:srgbClr val="64748B"/>
                </a:solidFill>
              </a:rPr>
              <a:t>Ingests 10-year historical time series of national entrance exams (JEE/</a:t>
            </a:r>
            <a:r>
              <a:rPr lang="en-US" sz="1400" dirty="0" err="1">
                <a:solidFill>
                  <a:srgbClr val="64748B"/>
                </a:solidFill>
              </a:rPr>
              <a:t>JoSAA</a:t>
            </a:r>
            <a:r>
              <a:rPr lang="en-US" sz="1400" dirty="0">
                <a:solidFill>
                  <a:srgbClr val="64748B"/>
                </a:solidFill>
              </a:rPr>
              <a:t>): registered candidates, appeared, qualifying cutoffs, opening/closing ranks, and sanctioned seats per branch.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0F172A"/>
                </a:solidFill>
              </a:rPr>
              <a:t>• Dual-Model Predictive Pipeline: </a:t>
            </a:r>
            <a:r>
              <a:rPr lang="en-US" sz="1400" dirty="0">
                <a:solidFill>
                  <a:srgbClr val="64748B"/>
                </a:solidFill>
              </a:rPr>
              <a:t>Simultaneously trains two distinct algorithms: (1) Polynomial Ridge Regression (scikit-learn) with L2 regularization to capture non-linear curvature, and (2) Holt-Winters Exponential Smoothing (</a:t>
            </a:r>
            <a:r>
              <a:rPr lang="en-US" sz="1400" dirty="0" err="1">
                <a:solidFill>
                  <a:srgbClr val="64748B"/>
                </a:solidFill>
              </a:rPr>
              <a:t>statsmodels</a:t>
            </a:r>
            <a:r>
              <a:rPr lang="en-US" sz="1400" dirty="0">
                <a:solidFill>
                  <a:srgbClr val="64748B"/>
                </a:solidFill>
              </a:rPr>
              <a:t>) for trend extrapolation.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0F172A"/>
                </a:solidFill>
              </a:rPr>
              <a:t>• Automated Model Selection: </a:t>
            </a:r>
            <a:r>
              <a:rPr lang="en-US" sz="1400" dirty="0">
                <a:solidFill>
                  <a:srgbClr val="64748B"/>
                </a:solidFill>
              </a:rPr>
              <a:t>Automatically selects the winning model per course based on statistical goodness-of-fit: maximizing Coefficient of Determination (R²) and minimizing Mean Absolute Error (MAE).</a:t>
            </a: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0F172A"/>
                </a:solidFill>
              </a:rPr>
              <a:t>• What-If Scenario Simulation: </a:t>
            </a:r>
            <a:r>
              <a:rPr lang="en-US" sz="1400" dirty="0">
                <a:solidFill>
                  <a:srgbClr val="64748B"/>
                </a:solidFill>
              </a:rPr>
              <a:t>Supports customizable growth multipliers (0.8x to 1.5x) to test policy interventions, new degree launches, or quota expansions.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63040"/>
            <a:ext cx="4206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0" y="1645920"/>
            <a:ext cx="3749039" cy="353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rPr sz="2400" dirty="0"/>
              <a:t>Forecasting Outputs &amp; Indicators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2563EB"/>
                </a:solidFill>
              </a:rPr>
              <a:t>✔ 1 to 5-Year Horizon Demand: </a:t>
            </a:r>
            <a:r>
              <a:rPr sz="1400" dirty="0">
                <a:solidFill>
                  <a:srgbClr val="64748B"/>
                </a:solidFill>
              </a:rPr>
              <a:t>Course-wise projected applicant volume and seat demand.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2563EB"/>
                </a:solidFill>
              </a:rPr>
              <a:t>✔ Selectivity Trajectory: </a:t>
            </a:r>
            <a:r>
              <a:rPr sz="1400" dirty="0">
                <a:solidFill>
                  <a:srgbClr val="64748B"/>
                </a:solidFill>
              </a:rPr>
              <a:t>Tracks closing ranks and applicants-per-seat ratios over time.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2563EB"/>
                </a:solidFill>
              </a:rPr>
              <a:t>✔ Infrastructure Urgency Score: </a:t>
            </a:r>
            <a:r>
              <a:rPr sz="1400" dirty="0">
                <a:solidFill>
                  <a:srgbClr val="64748B"/>
                </a:solidFill>
              </a:rPr>
              <a:t>Translates high demand growth into concrete seat deficit estimates for planning.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2563EB"/>
                </a:solidFill>
              </a:rPr>
              <a:t>✔ Evaluation Accuracy: </a:t>
            </a:r>
            <a:r>
              <a:rPr sz="1400" dirty="0">
                <a:solidFill>
                  <a:srgbClr val="64748B"/>
                </a:solidFill>
              </a:rPr>
              <a:t>Reports R² score and MAE for transparent model explainability.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OPERATIONAL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Modules 3 &amp; 4: Capacity Monitoring &amp; Accessibility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563EB"/>
                </a:solidFill>
              </a:defRPr>
            </a:pPr>
            <a:r>
              <a:rPr dirty="0"/>
              <a:t>Module 3: Capacity &amp; Threshold Monitoring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Physical Capacity Mapping: </a:t>
            </a:r>
            <a:r>
              <a:rPr sz="1400" dirty="0">
                <a:solidFill>
                  <a:srgbClr val="64748B"/>
                </a:solidFill>
              </a:rPr>
              <a:t>Catalogs true maximum capacity per facility: classroom lecture seats, hostel beds, lab benches, and mess dining capacities.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Utilization Ratio: </a:t>
            </a:r>
            <a:r>
              <a:rPr sz="1400" dirty="0">
                <a:solidFill>
                  <a:srgbClr val="64748B"/>
                </a:solidFill>
              </a:rPr>
              <a:t>Computes Utilization = (Current/Projected Students) / Design Capacity across every building type.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Configurable Safety Margins: </a:t>
            </a:r>
            <a:r>
              <a:rPr sz="1400" dirty="0">
                <a:solidFill>
                  <a:srgbClr val="64748B"/>
                </a:solidFill>
              </a:rPr>
              <a:t>User-adjustable alert thresholds (e.g., 85% safety buffer).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Multi-Tier Alerts: </a:t>
            </a:r>
            <a:r>
              <a:rPr sz="1400" dirty="0">
                <a:solidFill>
                  <a:srgbClr val="64748B"/>
                </a:solidFill>
              </a:rPr>
              <a:t>Flags facilities into Normal (&lt;85%), Warning (85-95%), and Critical Breach (&gt;95%) to trigger immediate capital expansion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7C3AED"/>
                </a:solidFill>
              </a:defRPr>
            </a:pPr>
            <a:r>
              <a:rPr dirty="0"/>
              <a:t>Module 4: Campus Accessibility &amp; Reachability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Dijkstra Shortest Path Search: </a:t>
            </a:r>
            <a:r>
              <a:rPr sz="1400" dirty="0">
                <a:solidFill>
                  <a:srgbClr val="64748B"/>
                </a:solidFill>
              </a:rPr>
              <a:t>Executes all-pairs shortest path analysis across the </a:t>
            </a:r>
            <a:r>
              <a:rPr sz="1400" dirty="0" err="1">
                <a:solidFill>
                  <a:srgbClr val="64748B"/>
                </a:solidFill>
              </a:rPr>
              <a:t>NetworkX</a:t>
            </a:r>
            <a:r>
              <a:rPr sz="1400" dirty="0">
                <a:solidFill>
                  <a:srgbClr val="64748B"/>
                </a:solidFill>
              </a:rPr>
              <a:t> walkable graph to calculate realistic walking commutes.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N×N Distance Matrix: </a:t>
            </a:r>
            <a:r>
              <a:rPr sz="1400" dirty="0">
                <a:solidFill>
                  <a:srgbClr val="64748B"/>
                </a:solidFill>
              </a:rPr>
              <a:t>Provides an instant distance lookup (in meters) between any origin and destination facility.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Isolated Gap Analysis: </a:t>
            </a:r>
            <a:r>
              <a:rPr sz="1400" dirty="0">
                <a:solidFill>
                  <a:srgbClr val="64748B"/>
                </a:solidFill>
              </a:rPr>
              <a:t>Identifies disconnected or inaccessible structures where pedestrian walkways are broken or missing.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Walking Isochrones (Service Areas): </a:t>
            </a:r>
            <a:r>
              <a:rPr sz="1400" dirty="0">
                <a:solidFill>
                  <a:srgbClr val="64748B"/>
                </a:solidFill>
              </a:rPr>
              <a:t>Models 5-minute and 10-minute pedestrian catchment zones around major amenities (mess, library, health center).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MATHEMATICAL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5: Facility Location Optimizer (p-Median)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566928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rPr sz="2000" dirty="0"/>
              <a:t>Mathematical Formulation &amp; Working Principle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Integer Linear Programming (ILP): </a:t>
            </a:r>
            <a:r>
              <a:rPr sz="1200" dirty="0">
                <a:solidFill>
                  <a:srgbClr val="64748B"/>
                </a:solidFill>
              </a:rPr>
              <a:t>Formulated as a classic p-Median facility location problem, solved using </a:t>
            </a:r>
            <a:r>
              <a:rPr sz="1200" dirty="0" err="1">
                <a:solidFill>
                  <a:srgbClr val="64748B"/>
                </a:solidFill>
              </a:rPr>
              <a:t>PuLP</a:t>
            </a:r>
            <a:r>
              <a:rPr sz="1200" dirty="0">
                <a:solidFill>
                  <a:srgbClr val="64748B"/>
                </a:solidFill>
              </a:rPr>
              <a:t> and the CBC open-source solver.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Mathematical Objective: </a:t>
            </a:r>
            <a:r>
              <a:rPr sz="1200" dirty="0">
                <a:solidFill>
                  <a:srgbClr val="64748B"/>
                </a:solidFill>
              </a:rPr>
              <a:t>Minimize total weighted walking distance:
    min ∑ (</a:t>
            </a:r>
            <a:r>
              <a:rPr sz="1200" dirty="0" err="1">
                <a:solidFill>
                  <a:srgbClr val="64748B"/>
                </a:solidFill>
              </a:rPr>
              <a:t>w_i</a:t>
            </a:r>
            <a:r>
              <a:rPr sz="1200" dirty="0">
                <a:solidFill>
                  <a:srgbClr val="64748B"/>
                </a:solidFill>
              </a:rPr>
              <a:t> · </a:t>
            </a:r>
            <a:r>
              <a:rPr sz="1200" dirty="0" err="1">
                <a:solidFill>
                  <a:srgbClr val="64748B"/>
                </a:solidFill>
              </a:rPr>
              <a:t>d_ij</a:t>
            </a:r>
            <a:r>
              <a:rPr sz="1200" dirty="0">
                <a:solidFill>
                  <a:srgbClr val="64748B"/>
                </a:solidFill>
              </a:rPr>
              <a:t> · </a:t>
            </a:r>
            <a:r>
              <a:rPr sz="1200" dirty="0" err="1">
                <a:solidFill>
                  <a:srgbClr val="64748B"/>
                </a:solidFill>
              </a:rPr>
              <a:t>x_ij</a:t>
            </a:r>
            <a:r>
              <a:rPr sz="1200" dirty="0">
                <a:solidFill>
                  <a:srgbClr val="64748B"/>
                </a:solidFill>
              </a:rPr>
              <a:t>)
where </a:t>
            </a:r>
            <a:r>
              <a:rPr sz="1200" dirty="0" err="1">
                <a:solidFill>
                  <a:srgbClr val="64748B"/>
                </a:solidFill>
              </a:rPr>
              <a:t>w_i</a:t>
            </a:r>
            <a:r>
              <a:rPr sz="1200" dirty="0">
                <a:solidFill>
                  <a:srgbClr val="64748B"/>
                </a:solidFill>
              </a:rPr>
              <a:t> is the student population at demand node </a:t>
            </a:r>
            <a:r>
              <a:rPr sz="1200" dirty="0" err="1">
                <a:solidFill>
                  <a:srgbClr val="64748B"/>
                </a:solidFill>
              </a:rPr>
              <a:t>i</a:t>
            </a:r>
            <a:r>
              <a:rPr sz="1200" dirty="0">
                <a:solidFill>
                  <a:srgbClr val="64748B"/>
                </a:solidFill>
              </a:rPr>
              <a:t>, </a:t>
            </a:r>
            <a:r>
              <a:rPr sz="1200" dirty="0" err="1">
                <a:solidFill>
                  <a:srgbClr val="64748B"/>
                </a:solidFill>
              </a:rPr>
              <a:t>d_ij</a:t>
            </a:r>
            <a:r>
              <a:rPr sz="1200" dirty="0">
                <a:solidFill>
                  <a:srgbClr val="64748B"/>
                </a:solidFill>
              </a:rPr>
              <a:t> is the shortest walking distance to candidate parcel j, and </a:t>
            </a:r>
            <a:r>
              <a:rPr sz="1200" dirty="0" err="1">
                <a:solidFill>
                  <a:srgbClr val="64748B"/>
                </a:solidFill>
              </a:rPr>
              <a:t>x_ij</a:t>
            </a:r>
            <a:r>
              <a:rPr sz="1200" dirty="0">
                <a:solidFill>
                  <a:srgbClr val="64748B"/>
                </a:solidFill>
              </a:rPr>
              <a:t> is the binary assignment variable.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Selection Constraint: </a:t>
            </a:r>
            <a:r>
              <a:rPr sz="1200" dirty="0">
                <a:solidFill>
                  <a:srgbClr val="64748B"/>
                </a:solidFill>
              </a:rPr>
              <a:t>Exactly p candidate parcels are selected from the pool of available undeveloped campus zones: ∑ </a:t>
            </a:r>
            <a:r>
              <a:rPr sz="1200" dirty="0" err="1">
                <a:solidFill>
                  <a:srgbClr val="64748B"/>
                </a:solidFill>
              </a:rPr>
              <a:t>y_j</a:t>
            </a:r>
            <a:r>
              <a:rPr sz="1200" dirty="0">
                <a:solidFill>
                  <a:srgbClr val="64748B"/>
                </a:solidFill>
              </a:rPr>
              <a:t> = p.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Strict Zoning Rules: </a:t>
            </a:r>
            <a:r>
              <a:rPr sz="1200" dirty="0">
                <a:solidFill>
                  <a:srgbClr val="64748B"/>
                </a:solidFill>
              </a:rPr>
              <a:t>Integrates campus zoning constraints — ensuring residential facilities adhere to segregation rules (e.g. boys/girls zones) and maintaining utility buffer corridors.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63040"/>
            <a:ext cx="42062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0" y="1645920"/>
            <a:ext cx="3749039" cy="445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rPr sz="2400" dirty="0"/>
              <a:t>Strategic Advantages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2563EB"/>
                </a:solidFill>
              </a:rPr>
              <a:t>★ Evidence-Based Construction: </a:t>
            </a:r>
            <a:r>
              <a:rPr sz="1400" dirty="0">
                <a:solidFill>
                  <a:srgbClr val="64748B"/>
                </a:solidFill>
              </a:rPr>
              <a:t>Eliminates subjective guesswork by replacing committee opinions with mathematical proof of optimal placement.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2563EB"/>
                </a:solidFill>
              </a:rPr>
              <a:t>★ Minimizes Student Fatigue: </a:t>
            </a:r>
            <a:r>
              <a:rPr sz="1400" dirty="0">
                <a:solidFill>
                  <a:srgbClr val="64748B"/>
                </a:solidFill>
              </a:rPr>
              <a:t>Guarantees the lowest possible average daily walking distance between hostels, mess, and lecture complexes.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2563EB"/>
                </a:solidFill>
              </a:rPr>
              <a:t>★ Efficient Land Utilization: </a:t>
            </a:r>
            <a:r>
              <a:rPr sz="1400" dirty="0">
                <a:solidFill>
                  <a:srgbClr val="64748B"/>
                </a:solidFill>
              </a:rPr>
              <a:t>Ranks candidate open parcels by accessibility index, protecting campus green belts from haphazard encroachment.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rgbClr val="2563EB"/>
                </a:solidFill>
              </a:rPr>
              <a:t>★ Multi-Facility Siting: </a:t>
            </a:r>
            <a:r>
              <a:rPr sz="1400" dirty="0">
                <a:solidFill>
                  <a:srgbClr val="64748B"/>
                </a:solidFill>
              </a:rPr>
              <a:t>Simultaneously determines sites for p=1, 2, or more buildings concurrently.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SOFTWARE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6: Unified REST API &amp; Decision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70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rPr sz="2400" dirty="0" err="1"/>
              <a:t>FastAPI</a:t>
            </a:r>
            <a:r>
              <a:rPr sz="2400" dirty="0"/>
              <a:t> Backend Architecture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Modular Micro-Routers: </a:t>
            </a:r>
            <a:r>
              <a:rPr sz="1400" dirty="0">
                <a:solidFill>
                  <a:srgbClr val="64748B"/>
                </a:solidFill>
              </a:rPr>
              <a:t>Isolated endpoints for each domain:
  - /</a:t>
            </a:r>
            <a:r>
              <a:rPr sz="1400" dirty="0" err="1">
                <a:solidFill>
                  <a:srgbClr val="64748B"/>
                </a:solidFill>
              </a:rPr>
              <a:t>api</a:t>
            </a:r>
            <a:r>
              <a:rPr sz="1400" dirty="0">
                <a:solidFill>
                  <a:srgbClr val="64748B"/>
                </a:solidFill>
              </a:rPr>
              <a:t>/mapping (footprints, paths, centroids)
  - /</a:t>
            </a:r>
            <a:r>
              <a:rPr sz="1400" dirty="0" err="1">
                <a:solidFill>
                  <a:srgbClr val="64748B"/>
                </a:solidFill>
              </a:rPr>
              <a:t>api</a:t>
            </a:r>
            <a:r>
              <a:rPr sz="1400" dirty="0">
                <a:solidFill>
                  <a:srgbClr val="64748B"/>
                </a:solidFill>
              </a:rPr>
              <a:t>/forecast (predictions, historical series)
  - /</a:t>
            </a:r>
            <a:r>
              <a:rPr sz="1400" dirty="0" err="1">
                <a:solidFill>
                  <a:srgbClr val="64748B"/>
                </a:solidFill>
              </a:rPr>
              <a:t>api</a:t>
            </a:r>
            <a:r>
              <a:rPr sz="1400" dirty="0">
                <a:solidFill>
                  <a:srgbClr val="64748B"/>
                </a:solidFill>
              </a:rPr>
              <a:t>/capacity (utilization, thresholds)
  - /</a:t>
            </a:r>
            <a:r>
              <a:rPr sz="1400" dirty="0" err="1">
                <a:solidFill>
                  <a:srgbClr val="64748B"/>
                </a:solidFill>
              </a:rPr>
              <a:t>api</a:t>
            </a:r>
            <a:r>
              <a:rPr sz="1400" dirty="0">
                <a:solidFill>
                  <a:srgbClr val="64748B"/>
                </a:solidFill>
              </a:rPr>
              <a:t>/accessibility (distances, reachability)
  - /</a:t>
            </a:r>
            <a:r>
              <a:rPr sz="1400" dirty="0" err="1">
                <a:solidFill>
                  <a:srgbClr val="64748B"/>
                </a:solidFill>
              </a:rPr>
              <a:t>api</a:t>
            </a:r>
            <a:r>
              <a:rPr sz="1400" dirty="0">
                <a:solidFill>
                  <a:srgbClr val="64748B"/>
                </a:solidFill>
              </a:rPr>
              <a:t>/optimization (p-median siting)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Type-Safe </a:t>
            </a:r>
            <a:r>
              <a:rPr sz="1400" b="1" dirty="0" err="1">
                <a:solidFill>
                  <a:srgbClr val="0F172A"/>
                </a:solidFill>
              </a:rPr>
              <a:t>Pydantic</a:t>
            </a:r>
            <a:r>
              <a:rPr sz="1400" b="1" dirty="0">
                <a:solidFill>
                  <a:srgbClr val="0F172A"/>
                </a:solidFill>
              </a:rPr>
              <a:t> Schemas: </a:t>
            </a:r>
            <a:r>
              <a:rPr sz="1400" dirty="0">
                <a:solidFill>
                  <a:srgbClr val="64748B"/>
                </a:solidFill>
              </a:rPr>
              <a:t>Strict request/response validation ensuring reliability.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CORS &amp; </a:t>
            </a:r>
            <a:r>
              <a:rPr sz="1400" b="1" dirty="0" err="1">
                <a:solidFill>
                  <a:srgbClr val="0F172A"/>
                </a:solidFill>
              </a:rPr>
              <a:t>OpenAPI</a:t>
            </a:r>
            <a:r>
              <a:rPr sz="1400" b="1" dirty="0">
                <a:solidFill>
                  <a:srgbClr val="0F172A"/>
                </a:solidFill>
              </a:rPr>
              <a:t> Integration: </a:t>
            </a:r>
            <a:r>
              <a:rPr sz="1400" dirty="0">
                <a:solidFill>
                  <a:srgbClr val="64748B"/>
                </a:solidFill>
              </a:rPr>
              <a:t>Automatic interactive Swagger UI (/docs) and seamless frontend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7C3AED"/>
                </a:solidFill>
              </a:defRPr>
            </a:pPr>
            <a:r>
              <a:rPr sz="2400" dirty="0" err="1"/>
              <a:t>Streamlit</a:t>
            </a:r>
            <a:r>
              <a:rPr sz="2400" dirty="0"/>
              <a:t> Decision Dashboard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7 Dedicated Views: </a:t>
            </a:r>
            <a:r>
              <a:rPr sz="1400" dirty="0">
                <a:solidFill>
                  <a:srgbClr val="64748B"/>
                </a:solidFill>
              </a:rPr>
              <a:t>Home, Campus Mapping, Student Demand Forecasting, Capacity Monitoring, Campus Accessibility, Facility Optimizer, and API Health Status.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Interactive Geospatial Maps: </a:t>
            </a:r>
            <a:r>
              <a:rPr sz="1400" dirty="0">
                <a:solidFill>
                  <a:srgbClr val="64748B"/>
                </a:solidFill>
              </a:rPr>
              <a:t>Integrated Folium maps rendering building polygons with popup details, zoning colors, and walkable path overlays.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Dynamic Scenario Sliders: </a:t>
            </a:r>
            <a:r>
              <a:rPr sz="1400" dirty="0">
                <a:solidFill>
                  <a:srgbClr val="64748B"/>
                </a:solidFill>
              </a:rPr>
              <a:t>Real-time horizon adjustment (1-5 years), model toggling, and what-if growth multipliers with instant re-rendering.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0F172A"/>
                </a:solidFill>
              </a:rPr>
              <a:t>• Visual Decision Support: </a:t>
            </a:r>
            <a:r>
              <a:rPr sz="1400" dirty="0">
                <a:solidFill>
                  <a:srgbClr val="64748B"/>
                </a:solidFill>
              </a:rPr>
              <a:t>Clean metric scorecards, progress bars, and alert badges for administrative decision-makers.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Current Implementation Status: Work Done Till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63240" cy="3960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rPr dirty="0"/>
              <a:t>GIS &amp; Network Layer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0B981"/>
                </a:solidFill>
              </a:rPr>
              <a:t>✔ QGIS Digitization Pipeline: 
  </a:t>
            </a:r>
            <a:r>
              <a:rPr sz="1400" dirty="0">
                <a:solidFill>
                  <a:srgbClr val="64748B"/>
                </a:solidFill>
              </a:rPr>
              <a:t>Standardized </a:t>
            </a:r>
            <a:r>
              <a:rPr sz="1400" dirty="0" err="1">
                <a:solidFill>
                  <a:srgbClr val="64748B"/>
                </a:solidFill>
              </a:rPr>
              <a:t>GeoJSON</a:t>
            </a:r>
            <a:r>
              <a:rPr sz="1400" dirty="0">
                <a:solidFill>
                  <a:srgbClr val="64748B"/>
                </a:solidFill>
              </a:rPr>
              <a:t> schemas established for campus structures, parcels, and pathways.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0B981"/>
                </a:solidFill>
              </a:rPr>
              <a:t>✔ Graph Builder Engine: 
  </a:t>
            </a:r>
            <a:r>
              <a:rPr sz="1400" dirty="0">
                <a:solidFill>
                  <a:srgbClr val="64748B"/>
                </a:solidFill>
              </a:rPr>
              <a:t>src/gis/build_campus_graph.py successfully converts </a:t>
            </a:r>
            <a:r>
              <a:rPr sz="1400" dirty="0" err="1">
                <a:solidFill>
                  <a:srgbClr val="64748B"/>
                </a:solidFill>
              </a:rPr>
              <a:t>GeoJSON</a:t>
            </a:r>
            <a:r>
              <a:rPr sz="1400" dirty="0">
                <a:solidFill>
                  <a:srgbClr val="64748B"/>
                </a:solidFill>
              </a:rPr>
              <a:t> polygons into topological </a:t>
            </a:r>
            <a:r>
              <a:rPr sz="1400" dirty="0" err="1">
                <a:solidFill>
                  <a:srgbClr val="64748B"/>
                </a:solidFill>
              </a:rPr>
              <a:t>NetworkX</a:t>
            </a:r>
            <a:r>
              <a:rPr sz="1400" dirty="0">
                <a:solidFill>
                  <a:srgbClr val="64748B"/>
                </a:solidFill>
              </a:rPr>
              <a:t> graphs.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0B981"/>
                </a:solidFill>
              </a:rPr>
              <a:t>✔ Distance &amp; Map Outputs: 
  </a:t>
            </a:r>
            <a:r>
              <a:rPr sz="1400" dirty="0">
                <a:solidFill>
                  <a:srgbClr val="64748B"/>
                </a:solidFill>
              </a:rPr>
              <a:t>Generates </a:t>
            </a:r>
            <a:r>
              <a:rPr sz="1400" dirty="0" err="1">
                <a:solidFill>
                  <a:srgbClr val="64748B"/>
                </a:solidFill>
              </a:rPr>
              <a:t>campus_graph.graphml</a:t>
            </a:r>
            <a:r>
              <a:rPr sz="1400" dirty="0">
                <a:solidFill>
                  <a:srgbClr val="64748B"/>
                </a:solidFill>
              </a:rPr>
              <a:t>, precomputed </a:t>
            </a:r>
            <a:r>
              <a:rPr sz="1400" dirty="0" err="1">
                <a:solidFill>
                  <a:srgbClr val="64748B"/>
                </a:solidFill>
              </a:rPr>
              <a:t>building_distances.json</a:t>
            </a:r>
            <a:r>
              <a:rPr sz="1400" dirty="0">
                <a:solidFill>
                  <a:srgbClr val="64748B"/>
                </a:solidFill>
              </a:rPr>
              <a:t>, and campus_map.html.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691640"/>
            <a:ext cx="3063240" cy="3960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rPr dirty="0"/>
              <a:t>Demand Forecasting Engine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0B981"/>
                </a:solidFill>
              </a:rPr>
              <a:t>✔ Historical Admission Dataset: 
  </a:t>
            </a:r>
            <a:r>
              <a:rPr sz="1400" dirty="0">
                <a:solidFill>
                  <a:srgbClr val="64748B"/>
                </a:solidFill>
              </a:rPr>
              <a:t>10-year realistic entrance exam dataset (entrance_exam_history.csv) across major engineering branches.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0B981"/>
                </a:solidFill>
              </a:rPr>
              <a:t>✔ Dual ML Predictive Pipeline: 
  </a:t>
            </a:r>
            <a:r>
              <a:rPr sz="1400" dirty="0">
                <a:solidFill>
                  <a:srgbClr val="64748B"/>
                </a:solidFill>
              </a:rPr>
              <a:t>Fully implemented Polynomial Ridge Regression and Holt-Winters Exponential Smoothing in </a:t>
            </a:r>
            <a:r>
              <a:rPr sz="1400" dirty="0" err="1">
                <a:solidFill>
                  <a:srgbClr val="64748B"/>
                </a:solidFill>
              </a:rPr>
              <a:t>src</a:t>
            </a:r>
            <a:r>
              <a:rPr sz="1400" dirty="0">
                <a:solidFill>
                  <a:srgbClr val="64748B"/>
                </a:solidFill>
              </a:rPr>
              <a:t>/forecast/engine.py.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0B981"/>
                </a:solidFill>
              </a:rPr>
              <a:t>✔ Automated Evaluation: 
  </a:t>
            </a:r>
            <a:r>
              <a:rPr sz="1400" dirty="0">
                <a:solidFill>
                  <a:srgbClr val="64748B"/>
                </a:solidFill>
              </a:rPr>
              <a:t>Automatic selection using R² &amp; MAE, plus interactive what-if scenario multipliers.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709928"/>
            <a:ext cx="3063240" cy="3744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7C3AED"/>
                </a:solidFill>
              </a:defRPr>
            </a:pPr>
            <a:r>
              <a:rPr dirty="0"/>
              <a:t>Full-Stack Backend &amp; UI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0B981"/>
                </a:solidFill>
              </a:rPr>
              <a:t>✔ </a:t>
            </a:r>
            <a:r>
              <a:rPr sz="1400" b="1" dirty="0" err="1">
                <a:solidFill>
                  <a:srgbClr val="10B981"/>
                </a:solidFill>
              </a:rPr>
              <a:t>FastAPI</a:t>
            </a:r>
            <a:r>
              <a:rPr sz="1400" b="1" dirty="0">
                <a:solidFill>
                  <a:srgbClr val="10B981"/>
                </a:solidFill>
              </a:rPr>
              <a:t> Modular Backend: 
  </a:t>
            </a:r>
            <a:r>
              <a:rPr sz="1400" dirty="0" err="1">
                <a:solidFill>
                  <a:srgbClr val="64748B"/>
                </a:solidFill>
              </a:rPr>
              <a:t>FastAPI</a:t>
            </a:r>
            <a:r>
              <a:rPr sz="1400" dirty="0">
                <a:solidFill>
                  <a:srgbClr val="64748B"/>
                </a:solidFill>
              </a:rPr>
              <a:t> server running with structured schemas, CORS, and 5 modular router endpoints.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0B981"/>
                </a:solidFill>
              </a:rPr>
              <a:t>✔ </a:t>
            </a:r>
            <a:r>
              <a:rPr sz="1400" b="1" dirty="0" err="1">
                <a:solidFill>
                  <a:srgbClr val="10B981"/>
                </a:solidFill>
              </a:rPr>
              <a:t>Streamlit</a:t>
            </a:r>
            <a:r>
              <a:rPr sz="1400" b="1" dirty="0">
                <a:solidFill>
                  <a:srgbClr val="10B981"/>
                </a:solidFill>
              </a:rPr>
              <a:t> Decision UI: 
  </a:t>
            </a:r>
            <a:r>
              <a:rPr sz="1400" dirty="0">
                <a:solidFill>
                  <a:srgbClr val="64748B"/>
                </a:solidFill>
              </a:rPr>
              <a:t>Interactive 7-page dashboard with Folium map rendering and live forecast visualization.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0B981"/>
                </a:solidFill>
              </a:rPr>
              <a:t>✔ Live Module Integration: 
  </a:t>
            </a:r>
            <a:r>
              <a:rPr sz="1400" dirty="0">
                <a:solidFill>
                  <a:srgbClr val="64748B"/>
                </a:solidFill>
              </a:rPr>
              <a:t>Module 1 (GIS Mapping) and Module 2 (Forecasting) are fully wired end-to-end from API to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Technical Roadmap: Work Pending &amp; Next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63240" cy="417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59E0B"/>
                </a:solidFill>
              </a:defRPr>
            </a:pPr>
            <a:r>
              <a:rPr dirty="0"/>
              <a:t>Module 5: </a:t>
            </a:r>
            <a:r>
              <a:rPr dirty="0" err="1"/>
              <a:t>PuLP</a:t>
            </a:r>
            <a:r>
              <a:rPr dirty="0"/>
              <a:t> Siting Solver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59E0B"/>
                </a:solidFill>
              </a:rPr>
              <a:t>⏳ Implement ILP Siting Model: 
  </a:t>
            </a:r>
            <a:r>
              <a:rPr sz="1400" dirty="0">
                <a:solidFill>
                  <a:srgbClr val="64748B"/>
                </a:solidFill>
              </a:rPr>
              <a:t>Write the complete p-median optimization formulation in </a:t>
            </a:r>
            <a:r>
              <a:rPr sz="1400" dirty="0" err="1">
                <a:solidFill>
                  <a:srgbClr val="64748B"/>
                </a:solidFill>
              </a:rPr>
              <a:t>src</a:t>
            </a:r>
            <a:r>
              <a:rPr sz="1400" dirty="0">
                <a:solidFill>
                  <a:srgbClr val="64748B"/>
                </a:solidFill>
              </a:rPr>
              <a:t>/optimizer/ using </a:t>
            </a:r>
            <a:r>
              <a:rPr sz="1400" dirty="0" err="1">
                <a:solidFill>
                  <a:srgbClr val="64748B"/>
                </a:solidFill>
              </a:rPr>
              <a:t>PuLP</a:t>
            </a:r>
            <a:r>
              <a:rPr sz="1400" dirty="0">
                <a:solidFill>
                  <a:srgbClr val="64748B"/>
                </a:solidFill>
              </a:rPr>
              <a:t> and CBC solver.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59E0B"/>
                </a:solidFill>
              </a:rPr>
              <a:t>⏳ Candidate Site Integration: 
  </a:t>
            </a:r>
            <a:r>
              <a:rPr sz="1400" dirty="0">
                <a:solidFill>
                  <a:srgbClr val="64748B"/>
                </a:solidFill>
              </a:rPr>
              <a:t>Parse candidate open parcels from </a:t>
            </a:r>
            <a:r>
              <a:rPr sz="1400" dirty="0" err="1">
                <a:solidFill>
                  <a:srgbClr val="64748B"/>
                </a:solidFill>
              </a:rPr>
              <a:t>GeoJSON</a:t>
            </a:r>
            <a:r>
              <a:rPr sz="1400" dirty="0">
                <a:solidFill>
                  <a:srgbClr val="64748B"/>
                </a:solidFill>
              </a:rPr>
              <a:t> and compute walking distances from all campus demand nodes.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59E0B"/>
                </a:solidFill>
              </a:rPr>
              <a:t>⏳ Zoning Rule Enforcement: 
  </a:t>
            </a:r>
            <a:r>
              <a:rPr sz="1400" dirty="0">
                <a:solidFill>
                  <a:srgbClr val="64748B"/>
                </a:solidFill>
              </a:rPr>
              <a:t>Encode hard constraints for residential gender segregation and utility proximity buffers.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691640"/>
            <a:ext cx="3063240" cy="3744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rPr dirty="0"/>
              <a:t>Modules 3 &amp; 4: Capacity &amp; Gaps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59E0B"/>
                </a:solidFill>
              </a:rPr>
              <a:t>⏳ Live Capacity Monitoring: 
  </a:t>
            </a:r>
            <a:r>
              <a:rPr sz="1400" dirty="0">
                <a:solidFill>
                  <a:srgbClr val="64748B"/>
                </a:solidFill>
              </a:rPr>
              <a:t>Wire facility tables to live student enrollment databases and compute dynamic utilization ratios.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59E0B"/>
                </a:solidFill>
              </a:rPr>
              <a:t>⏳ Automated Threshold Alerting: 
  </a:t>
            </a:r>
            <a:r>
              <a:rPr sz="1400" dirty="0">
                <a:solidFill>
                  <a:srgbClr val="64748B"/>
                </a:solidFill>
              </a:rPr>
              <a:t>Implement trigger thresholds (e.g. 85%) to send proactive warning notifications in the dashboard.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59E0B"/>
                </a:solidFill>
              </a:rPr>
              <a:t>⏳ Isochrone Catchment Overlays: 
  </a:t>
            </a:r>
            <a:r>
              <a:rPr sz="1400" dirty="0">
                <a:solidFill>
                  <a:srgbClr val="64748B"/>
                </a:solidFill>
              </a:rPr>
              <a:t>Render 5 and 10-minute pedestrian walking service areas and flag unreachable campus gaps.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29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1691640"/>
            <a:ext cx="3063240" cy="3960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7C3AED"/>
                </a:solidFill>
              </a:defRPr>
            </a:pPr>
            <a:r>
              <a:rPr dirty="0"/>
              <a:t>GIS Scale &amp; Closed-Loop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59E0B"/>
                </a:solidFill>
              </a:rPr>
              <a:t>⏳ Full-Scale Campus Digitization: 
  </a:t>
            </a:r>
            <a:r>
              <a:rPr sz="1400" dirty="0">
                <a:solidFill>
                  <a:srgbClr val="64748B"/>
                </a:solidFill>
              </a:rPr>
              <a:t>Digitize the entire 200+ acre campus footprint and actual road paths in QGIS, replacing sample files.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59E0B"/>
                </a:solidFill>
              </a:rPr>
              <a:t>⏳ Automated Decision Loop: 
  </a:t>
            </a:r>
            <a:r>
              <a:rPr sz="1400" dirty="0">
                <a:solidFill>
                  <a:srgbClr val="64748B"/>
                </a:solidFill>
              </a:rPr>
              <a:t>Auto-feed Module 2 forecasted deficits directly into Module 3 alerts, triggering Module 5 optimal siting recommendations.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59E0B"/>
                </a:solidFill>
              </a:rPr>
              <a:t>⏳ Construction Update Flow: 
  </a:t>
            </a:r>
            <a:r>
              <a:rPr sz="1400" dirty="0">
                <a:solidFill>
                  <a:srgbClr val="64748B"/>
                </a:solidFill>
              </a:rPr>
              <a:t>Allow approved construction sites to automatically refresh the GIS network graph.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CURRENT MILESTONE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Module Completion Status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579087"/>
              </p:ext>
            </p:extLst>
          </p:nvPr>
        </p:nvGraphicFramePr>
        <p:xfrm>
          <a:off x="731520" y="1463040"/>
          <a:ext cx="107259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Module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Primary Technologies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Current Implementation State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400"/>
                        <a:t>Module 1: GIS &amp; Network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rPr sz="1100"/>
                        <a:t>QGIS, GeoPandas, NetworkX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sz="1400" dirty="0"/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rPr sz="1100"/>
                        <a:t>Graph builder, GeoJSON layers, distance matrix, and map visualization active.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400"/>
                        <a:t>Module 2: Demand 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rPr sz="1100"/>
                        <a:t>scikit-learn, statsmodels, 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sz="1400"/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rPr sz="1100"/>
                        <a:t>Dual-model engine (Ridge + Holt-Winters), auto R² scoring, what-if scenarios.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400"/>
                        <a:t>Module 3: Capacity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rPr sz="1100"/>
                        <a:t>FastAPI, Pydantic,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rPr sz="1400" dirty="0"/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rPr sz="1100"/>
                        <a:t>API schema &amp; reserved routes created; live utilization logic &amp; alerts pending.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400"/>
                        <a:t>Module 4: Campus 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rPr sz="1100"/>
                        <a:t>NetworkX (Dijkstra), Shapely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</a:defRPr>
                      </a:pPr>
                      <a:r>
                        <a:rPr sz="1400"/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rPr sz="1100"/>
                        <a:t>Distance matrix served; isochrone polygons &amp; bottleneck analysis pending.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400"/>
                        <a:t>Module 5: Facility Siting 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rPr sz="1100"/>
                        <a:t>PuLP (ILP Solver), NetworkX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rPr sz="1400"/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rPr sz="1100"/>
                        <a:t>API routes reserved; mathematical p-median formulation &amp; zoning rules to be wired.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400"/>
                        <a:t>Module 6: API &amp; Web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</a:defRPr>
                      </a:pPr>
                      <a:r>
                        <a:rPr sz="1100"/>
                        <a:t>FastAPI, Streamlit, Folium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sz="1400"/>
                        <a:t>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rPr sz="1100" dirty="0"/>
                        <a:t>Decoupled full-stack architecture active; Modules 1 &amp; 2 fully visualized.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Summary &amp; Project Impact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60A5FA"/>
                </a:solidFill>
              </a:rPr>
              <a:t>✔ Proactive Capital Planning: </a:t>
            </a:r>
            <a:r>
              <a:rPr sz="1300">
                <a:solidFill>
                  <a:srgbClr val="E2E8F0"/>
                </a:solidFill>
              </a:rPr>
              <a:t>Transforms campus administration from reactive crisis management (building after severe shortages) to data-driven proactive expansion 3-5 years ahead.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60A5FA"/>
                </a:solidFill>
              </a:rPr>
              <a:t>✔ Scientifically Defensible Decisions: </a:t>
            </a:r>
            <a:r>
              <a:rPr sz="1300">
                <a:solidFill>
                  <a:srgbClr val="E2E8F0"/>
                </a:solidFill>
              </a:rPr>
              <a:t>Provides administrative boards with mathematical justification (R² forecast accuracy &amp; p-median distance minimization) for infrastructure investments.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60A5FA"/>
                </a:solidFill>
              </a:rPr>
              <a:t>✔ Enhanced Student Wellbeing: </a:t>
            </a:r>
            <a:r>
              <a:rPr sz="1300">
                <a:solidFill>
                  <a:srgbClr val="E2E8F0"/>
                </a:solidFill>
              </a:rPr>
              <a:t>Minimizes daily walking fatigue and prevents chronic overcrowding in student residences, classrooms, and dining halls.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60A5FA"/>
                </a:solidFill>
              </a:rPr>
              <a:t>✔ Extensible Smart-Campus Foundation: </a:t>
            </a:r>
            <a:r>
              <a:rPr sz="1300">
                <a:solidFill>
                  <a:srgbClr val="E2E8F0"/>
                </a:solidFill>
              </a:rPr>
              <a:t>The digitized GIS network graph and REST API establish a scalable foundation that can easily incorporate IoT smart-campus sensors in the future.</a:t>
            </a:r>
          </a:p>
          <a:p>
            <a:pPr>
              <a:spcBef>
                <a:spcPts val="2400"/>
              </a:spcBef>
              <a:defRPr sz="2000" b="1">
                <a:solidFill>
                  <a:srgbClr val="FFFFFF"/>
                </a:solidFill>
              </a:defRPr>
            </a:pPr>
            <a:r>
              <a:t>Thank You!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2333</Words>
  <Application>Microsoft Office PowerPoint</Application>
  <PresentationFormat>Widescreen</PresentationFormat>
  <Paragraphs>155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Amrit Mahato</cp:lastModifiedBy>
  <cp:revision>11</cp:revision>
  <dcterms:created xsi:type="dcterms:W3CDTF">2013-01-27T09:14:16Z</dcterms:created>
  <dcterms:modified xsi:type="dcterms:W3CDTF">2026-10-15T09:37:22Z</dcterms:modified>
  <cp:category/>
</cp:coreProperties>
</file>