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35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F8FAFC"/>
                </a:solidFill>
                <a:latin typeface="Segoe UI"/>
              </a:defRPr>
            </a:pPr>
            <a:r>
              <a:rPr dirty="0"/>
              <a:t>PREDICTIVE CAMPUS PLANNING</a:t>
            </a:r>
          </a:p>
          <a:p>
            <a:pPr>
              <a:defRPr sz="1800" b="1">
                <a:solidFill>
                  <a:srgbClr val="14B8A6"/>
                </a:solidFill>
                <a:latin typeface="Segoe UI"/>
              </a:defRPr>
            </a:pPr>
            <a:r>
              <a:rPr dirty="0"/>
              <a:t>A </a:t>
            </a:r>
            <a:r>
              <a:rPr dirty="0" err="1"/>
              <a:t>GeoAI</a:t>
            </a:r>
            <a:r>
              <a:rPr dirty="0"/>
              <a:t> &amp; Network Optimization System for Proactive Infrastructure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27195"/>
            <a:ext cx="82296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94A3B8"/>
                </a:solidFill>
                <a:latin typeface="Segoe UI"/>
              </a:defRPr>
            </a:pPr>
            <a:r>
              <a:rPr lang="en-US" sz="1600" dirty="0"/>
              <a:t>PROJECT REVIEW PRESENTATION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lang="en-US" sz="1600" dirty="0"/>
              <a:t>Focus: Seat Forecasting, Utilization Thresholds, and p-Median Facility Location</a:t>
            </a:r>
          </a:p>
          <a:p>
            <a:pPr>
              <a:defRPr sz="1200" i="1">
                <a:solidFill>
                  <a:srgbClr val="94A3B8"/>
                </a:solidFill>
                <a:latin typeface="Segoe UI"/>
              </a:defRPr>
            </a:pPr>
            <a:r>
              <a:rPr lang="en-US" sz="1600" dirty="0"/>
              <a:t>Literature Inspiration: </a:t>
            </a:r>
            <a:r>
              <a:rPr lang="en-US" sz="1600" dirty="0" err="1"/>
              <a:t>GeoAI</a:t>
            </a:r>
            <a:r>
              <a:rPr lang="en-US" sz="1600" dirty="0"/>
              <a:t> Applications in Urban Analytics (Avram,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Introduction &amp; Campus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74136" cy="515721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7532" y="1329845"/>
            <a:ext cx="3374136" cy="5262979"/>
          </a:xfrm>
          <a:prstGeom prst="rect">
            <a:avLst/>
          </a:prstGeom>
          <a:noFill/>
        </p:spPr>
        <p:txBody>
          <a:bodyPr wrap="square" lIns="182880" tIns="182880" rIns="182880" bIns="182880">
            <a:spAutoFit/>
          </a:bodyPr>
          <a:lstStyle/>
          <a:p>
            <a:pPr algn="ctr">
              <a:defRPr sz="6000" b="1">
                <a:solidFill>
                  <a:srgbClr val="14B8A6"/>
                </a:solidFill>
                <a:latin typeface="Segoe UI"/>
              </a:defRPr>
            </a:pPr>
            <a:r>
              <a:rPr sz="6600" dirty="0"/>
              <a:t>200+</a:t>
            </a:r>
          </a:p>
          <a:p>
            <a:pPr algn="ctr">
              <a:spcAft>
                <a:spcPts val="20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rPr sz="1600" dirty="0"/>
              <a:t>ACRES CAMPUS AREA</a:t>
            </a:r>
          </a:p>
          <a:p>
            <a:pPr>
              <a:spcAft>
                <a:spcPts val="800"/>
              </a:spcAft>
              <a:defRPr sz="1400" b="1">
                <a:solidFill>
                  <a:srgbClr val="F97316"/>
                </a:solidFill>
                <a:latin typeface="Segoe UI"/>
              </a:defRPr>
            </a:pPr>
            <a:r>
              <a:rPr sz="1600" dirty="0"/>
              <a:t>Campus Components:</a:t>
            </a:r>
          </a:p>
          <a:p>
            <a:pPr>
              <a:spcAft>
                <a:spcPts val="500"/>
              </a:spcAft>
            </a:pPr>
            <a:r>
              <a:rPr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b="1" dirty="0">
                <a:solidFill>
                  <a:srgbClr val="F8FAFC"/>
                </a:solidFill>
                <a:latin typeface="Segoe UI"/>
              </a:rPr>
              <a:t>Departments &amp; Courses</a:t>
            </a:r>
            <a:r>
              <a:rPr b="0" dirty="0">
                <a:solidFill>
                  <a:srgbClr val="F8FAFC"/>
                </a:solidFill>
                <a:latin typeface="Segoe UI"/>
              </a:rPr>
              <a:t>: 1st-4th years</a:t>
            </a:r>
          </a:p>
          <a:p>
            <a:pPr>
              <a:spcAft>
                <a:spcPts val="500"/>
              </a:spcAft>
            </a:pPr>
            <a:r>
              <a:rPr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b="1" dirty="0">
                <a:solidFill>
                  <a:srgbClr val="F8FAFC"/>
                </a:solidFill>
                <a:latin typeface="Segoe UI"/>
              </a:rPr>
              <a:t>Hostels &amp; Mess</a:t>
            </a:r>
            <a:r>
              <a:rPr b="0" dirty="0">
                <a:solidFill>
                  <a:srgbClr val="F8FAFC"/>
                </a:solidFill>
                <a:latin typeface="Segoe UI"/>
              </a:rPr>
              <a:t>: Separate boys/girls areas</a:t>
            </a:r>
          </a:p>
          <a:p>
            <a:pPr>
              <a:spcAft>
                <a:spcPts val="500"/>
              </a:spcAft>
            </a:pPr>
            <a:r>
              <a:rPr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b="1" dirty="0">
                <a:solidFill>
                  <a:srgbClr val="F8FAFC"/>
                </a:solidFill>
                <a:latin typeface="Segoe UI"/>
              </a:rPr>
              <a:t>Staff Quarters &amp; Admin Block</a:t>
            </a:r>
          </a:p>
          <a:p>
            <a:pPr>
              <a:spcAft>
                <a:spcPts val="500"/>
              </a:spcAft>
            </a:pPr>
            <a:r>
              <a:rPr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b="1" dirty="0">
                <a:solidFill>
                  <a:srgbClr val="F8FAFC"/>
                </a:solidFill>
                <a:latin typeface="Segoe UI"/>
              </a:rPr>
              <a:t>Sports Complex &amp; Recreation</a:t>
            </a:r>
          </a:p>
          <a:p>
            <a:pPr>
              <a:spcAft>
                <a:spcPts val="500"/>
              </a:spcAft>
            </a:pPr>
            <a:r>
              <a:rPr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b="1" dirty="0">
                <a:solidFill>
                  <a:srgbClr val="F8FAFC"/>
                </a:solidFill>
                <a:latin typeface="Segoe UI"/>
              </a:rPr>
              <a:t>Walkable Campus Road Grap</a:t>
            </a:r>
            <a:r>
              <a:rPr sz="1400" b="1" dirty="0">
                <a:solidFill>
                  <a:srgbClr val="F8FAFC"/>
                </a:solidFill>
                <a:latin typeface="Segoe UI"/>
              </a:rPr>
              <a:t>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7543800" cy="263347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0" y="1463040"/>
            <a:ext cx="7159752" cy="2405787"/>
          </a:xfrm>
          <a:prstGeom prst="rect">
            <a:avLst/>
          </a:prstGeom>
          <a:noFill/>
        </p:spPr>
        <p:txBody>
          <a:bodyPr wrap="square" lIns="182880" tIns="182880" rIns="182880" bIns="182880">
            <a:spAutoFit/>
          </a:bodyPr>
          <a:lstStyle/>
          <a:p>
            <a:pPr algn="just">
              <a:spcAft>
                <a:spcPts val="1000"/>
              </a:spcAft>
              <a:defRPr sz="1600" b="1">
                <a:solidFill>
                  <a:srgbClr val="F43F5E"/>
                </a:solidFill>
                <a:latin typeface="Segoe UI"/>
              </a:defRPr>
            </a:pPr>
            <a:r>
              <a:rPr dirty="0"/>
              <a:t>Current Planning Paradigm (Reactive)</a:t>
            </a:r>
          </a:p>
          <a:p>
            <a:pPr algn="just">
              <a:spcAft>
                <a:spcPts val="600"/>
              </a:spcAft>
            </a:pPr>
            <a:r>
              <a:rPr sz="14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400" b="1" dirty="0">
                <a:solidFill>
                  <a:srgbClr val="F8FAFC"/>
                </a:solidFill>
                <a:latin typeface="Segoe UI"/>
              </a:rPr>
              <a:t>Lagging Decisions</a:t>
            </a:r>
            <a:r>
              <a:rPr sz="1400" b="0" dirty="0">
                <a:solidFill>
                  <a:srgbClr val="F8FAFC"/>
                </a:solidFill>
                <a:latin typeface="Segoe UI"/>
              </a:rPr>
              <a:t>: Building expansion is triggered only *after* enrollment growth results in overcrowding, classrooms overflowing, or hostel seat deficits.</a:t>
            </a:r>
          </a:p>
          <a:p>
            <a:pPr algn="just">
              <a:spcAft>
                <a:spcPts val="600"/>
              </a:spcAft>
            </a:pPr>
            <a:r>
              <a:rPr sz="14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400" b="1" dirty="0">
                <a:solidFill>
                  <a:srgbClr val="F8FAFC"/>
                </a:solidFill>
                <a:latin typeface="Segoe UI"/>
              </a:rPr>
              <a:t>Siting without Analytics</a:t>
            </a:r>
            <a:r>
              <a:rPr sz="1400" b="0" dirty="0">
                <a:solidFill>
                  <a:srgbClr val="F8FAFC"/>
                </a:solidFill>
                <a:latin typeface="Segoe UI"/>
              </a:rPr>
              <a:t>: Siting decisions for new facilities are currently manual, neglecting walkable access distances, zoning limitations, or proximity to existing utility lines.</a:t>
            </a:r>
          </a:p>
          <a:p>
            <a:pPr algn="just">
              <a:spcAft>
                <a:spcPts val="600"/>
              </a:spcAft>
            </a:pPr>
            <a:r>
              <a:rPr sz="14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400" b="1" dirty="0">
                <a:solidFill>
                  <a:srgbClr val="F8FAFC"/>
                </a:solidFill>
                <a:latin typeface="Segoe UI"/>
              </a:rPr>
              <a:t>No Forward Projection</a:t>
            </a:r>
            <a:r>
              <a:rPr sz="1400" b="0" dirty="0">
                <a:solidFill>
                  <a:srgbClr val="F8FAFC"/>
                </a:solidFill>
                <a:latin typeface="Segoe UI"/>
              </a:rPr>
              <a:t>: Entrance exam statistics and demographic demands are processed as administrative logs, rather than input for predictive capacity planning.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4297680"/>
            <a:ext cx="7635240" cy="2295144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70248" y="4273249"/>
            <a:ext cx="7562088" cy="2375009"/>
          </a:xfrm>
          <a:prstGeom prst="rect">
            <a:avLst/>
          </a:prstGeom>
          <a:noFill/>
        </p:spPr>
        <p:txBody>
          <a:bodyPr wrap="square" lIns="182880" tIns="182880" rIns="182880" bIns="182880">
            <a:spAutoFit/>
          </a:bodyPr>
          <a:lstStyle/>
          <a:p>
            <a:pPr algn="just">
              <a:spcAft>
                <a:spcPts val="1000"/>
              </a:spcAft>
              <a:defRPr sz="1600" b="1">
                <a:solidFill>
                  <a:srgbClr val="14B8A6"/>
                </a:solidFill>
                <a:latin typeface="Segoe UI"/>
              </a:defRPr>
            </a:pPr>
            <a:r>
              <a:rPr sz="1400" dirty="0"/>
              <a:t>The Proactive </a:t>
            </a:r>
            <a:r>
              <a:rPr sz="1400" dirty="0" err="1"/>
              <a:t>GeoAI</a:t>
            </a:r>
            <a:r>
              <a:rPr sz="1400" dirty="0"/>
              <a:t> Vision</a:t>
            </a:r>
          </a:p>
          <a:p>
            <a:pPr algn="just">
              <a:spcAft>
                <a:spcPts val="600"/>
              </a:spcAft>
            </a:pPr>
            <a:r>
              <a:rPr sz="14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400" b="1" dirty="0">
                <a:solidFill>
                  <a:srgbClr val="F8FAFC"/>
                </a:solidFill>
                <a:latin typeface="Segoe UI"/>
              </a:rPr>
              <a:t>Dynamic Forecasting</a:t>
            </a:r>
            <a:r>
              <a:rPr sz="1400" b="0" dirty="0">
                <a:solidFill>
                  <a:srgbClr val="F8FAFC"/>
                </a:solidFill>
                <a:latin typeface="Segoe UI"/>
              </a:rPr>
              <a:t>: Translate entrance exam indicators (registration, attendance, passing rates) into a 3-to-5-year multi-course seat demand forecast.</a:t>
            </a:r>
          </a:p>
          <a:p>
            <a:pPr algn="just">
              <a:spcAft>
                <a:spcPts val="600"/>
              </a:spcAft>
            </a:pPr>
            <a:r>
              <a:rPr sz="14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400" b="1" dirty="0">
                <a:solidFill>
                  <a:srgbClr val="F8FAFC"/>
                </a:solidFill>
                <a:latin typeface="Segoe UI"/>
              </a:rPr>
              <a:t>Threshold-Driven Triggers</a:t>
            </a:r>
            <a:r>
              <a:rPr sz="1400" b="0" dirty="0">
                <a:solidFill>
                  <a:srgbClr val="F8FAFC"/>
                </a:solidFill>
                <a:latin typeface="Segoe UI"/>
              </a:rPr>
              <a:t>: Constantly monitor capacity ratios (students/bed, students/seat) and trigger alerts *before* physical limits are breached.</a:t>
            </a:r>
          </a:p>
          <a:p>
            <a:pPr algn="just">
              <a:spcAft>
                <a:spcPts val="600"/>
              </a:spcAft>
            </a:pPr>
            <a:r>
              <a:rPr sz="14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400" b="1" dirty="0">
                <a:solidFill>
                  <a:srgbClr val="F8FAFC"/>
                </a:solidFill>
                <a:latin typeface="Segoe UI"/>
              </a:rPr>
              <a:t>Network-Optimized Siting</a:t>
            </a:r>
            <a:r>
              <a:rPr sz="1400" b="0" dirty="0">
                <a:solidFill>
                  <a:srgbClr val="F8FAFC"/>
                </a:solidFill>
                <a:latin typeface="Segoe UI"/>
              </a:rPr>
              <a:t>: Programmatically solve a weighted p-median problem on the walkability graph to find optimal locations that minimize walking times while respecting zoning rules.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The Problem: Reactive Planning Bottlenecks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520655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9722" y="1490472"/>
            <a:ext cx="3328416" cy="5206554"/>
          </a:xfrm>
          <a:prstGeom prst="rect">
            <a:avLst/>
          </a:prstGeom>
          <a:noFill/>
        </p:spPr>
        <p:txBody>
          <a:bodyPr wrap="square" lIns="182880" tIns="182880" rIns="182880" bIns="18288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B8A6"/>
                </a:solidFill>
                <a:latin typeface="Segoe UI"/>
              </a:defRPr>
            </a:pPr>
            <a:r>
              <a:rPr dirty="0"/>
              <a:t>1. Demand Blind spots</a:t>
            </a:r>
          </a:p>
          <a:p>
            <a:pPr>
              <a:spcAft>
                <a:spcPts val="1200"/>
              </a:spcAft>
            </a:pPr>
            <a:r>
              <a:rPr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b="1" dirty="0">
                <a:solidFill>
                  <a:srgbClr val="F8FAFC"/>
                </a:solidFill>
                <a:latin typeface="Segoe UI"/>
              </a:rPr>
              <a:t>Unutilized Data</a:t>
            </a:r>
            <a:r>
              <a:rPr b="0" dirty="0">
                <a:solidFill>
                  <a:srgbClr val="F8FAFC"/>
                </a:solidFill>
                <a:latin typeface="Segoe UI"/>
              </a:rPr>
              <a:t>: Entrance exam indicators (registrations, cutoffs, pass rates) are archived, not modeled.</a:t>
            </a:r>
          </a:p>
          <a:p>
            <a:pPr>
              <a:spcAft>
                <a:spcPts val="1200"/>
              </a:spcAft>
            </a:pPr>
            <a:r>
              <a:rPr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b="1" dirty="0">
                <a:solidFill>
                  <a:srgbClr val="F8FAFC"/>
                </a:solidFill>
                <a:latin typeface="Segoe UI"/>
              </a:rPr>
              <a:t>Sudden Enrollment Surges</a:t>
            </a:r>
            <a:r>
              <a:rPr b="0" dirty="0">
                <a:solidFill>
                  <a:srgbClr val="F8FAFC"/>
                </a:solidFill>
                <a:latin typeface="Segoe UI"/>
              </a:rPr>
              <a:t>: Unanticipated admission increases lead to sudden pressure on teaching resources.</a:t>
            </a:r>
          </a:p>
          <a:p>
            <a:pPr>
              <a:spcAft>
                <a:spcPts val="1200"/>
              </a:spcAft>
            </a:pPr>
            <a:r>
              <a:rPr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b="1" dirty="0">
                <a:solidFill>
                  <a:srgbClr val="F8FAFC"/>
                </a:solidFill>
                <a:latin typeface="Segoe UI"/>
              </a:rPr>
              <a:t>No Multi-Year Projection</a:t>
            </a:r>
            <a:r>
              <a:rPr b="0" dirty="0">
                <a:solidFill>
                  <a:srgbClr val="F8FAFC"/>
                </a:solidFill>
                <a:latin typeface="Segoe UI"/>
              </a:rPr>
              <a:t>: Planners cannot project admission sizes 3 years out, leading to reactive hiring and seating fixes.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0204" y="1490472"/>
            <a:ext cx="3328416" cy="5074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17136" y="1490472"/>
            <a:ext cx="3328416" cy="4929555"/>
          </a:xfrm>
          <a:prstGeom prst="rect">
            <a:avLst/>
          </a:prstGeom>
          <a:noFill/>
        </p:spPr>
        <p:txBody>
          <a:bodyPr wrap="square" lIns="182880" tIns="182880" rIns="182880" bIns="18288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97316"/>
                </a:solidFill>
                <a:latin typeface="Segoe UI"/>
              </a:defRPr>
            </a:pPr>
            <a:r>
              <a:rPr dirty="0"/>
              <a:t>2. Capacity Breaches</a:t>
            </a:r>
          </a:p>
          <a:p>
            <a:pPr>
              <a:spcAft>
                <a:spcPts val="1200"/>
              </a:spcAft>
            </a:pPr>
            <a:r>
              <a:rPr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b="1" dirty="0">
                <a:solidFill>
                  <a:srgbClr val="F8FAFC"/>
                </a:solidFill>
                <a:latin typeface="Segoe UI"/>
              </a:rPr>
              <a:t>Overloaded Facilities</a:t>
            </a:r>
            <a:r>
              <a:rPr b="0" dirty="0">
                <a:solidFill>
                  <a:srgbClr val="F8FAFC"/>
                </a:solidFill>
                <a:latin typeface="Segoe UI"/>
              </a:rPr>
              <a:t>: Classroom seats, computer labs, and library seating capacity crossed without warning.</a:t>
            </a:r>
          </a:p>
          <a:p>
            <a:pPr>
              <a:spcAft>
                <a:spcPts val="1200"/>
              </a:spcAft>
            </a:pPr>
            <a:r>
              <a:rPr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b="1" dirty="0">
                <a:solidFill>
                  <a:srgbClr val="F8FAFC"/>
                </a:solidFill>
                <a:latin typeface="Segoe UI"/>
              </a:rPr>
              <a:t>Precarity in Housing</a:t>
            </a:r>
            <a:r>
              <a:rPr b="0" dirty="0">
                <a:solidFill>
                  <a:srgbClr val="F8FAFC"/>
                </a:solidFill>
                <a:latin typeface="Segoe UI"/>
              </a:rPr>
              <a:t>: Hostel bed availability and mess dining limits breached, impacting student quality of life.</a:t>
            </a:r>
          </a:p>
          <a:p>
            <a:pPr>
              <a:spcAft>
                <a:spcPts val="1200"/>
              </a:spcAft>
            </a:pPr>
            <a:r>
              <a:rPr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b="1" dirty="0">
                <a:solidFill>
                  <a:srgbClr val="F8FAFC"/>
                </a:solidFill>
                <a:latin typeface="Segoe UI"/>
              </a:rPr>
              <a:t>Sports Overcrowding</a:t>
            </a:r>
            <a:r>
              <a:rPr b="0" dirty="0">
                <a:solidFill>
                  <a:srgbClr val="F8FAFC"/>
                </a:solidFill>
                <a:latin typeface="Segoe UI"/>
              </a:rPr>
              <a:t>: Recreational infrastructure (gyms, sports fields) lagging behind student growth.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510235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02752" y="1463040"/>
            <a:ext cx="3328416" cy="5206554"/>
          </a:xfrm>
          <a:prstGeom prst="rect">
            <a:avLst/>
          </a:prstGeom>
          <a:noFill/>
        </p:spPr>
        <p:txBody>
          <a:bodyPr wrap="square" lIns="182880" tIns="182880" rIns="182880" bIns="18288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3F5E"/>
                </a:solidFill>
                <a:latin typeface="Segoe UI"/>
              </a:defRPr>
            </a:pPr>
            <a:r>
              <a:rPr dirty="0"/>
              <a:t>3. Suboptimal Siting</a:t>
            </a:r>
          </a:p>
          <a:p>
            <a:pPr>
              <a:spcAft>
                <a:spcPts val="1200"/>
              </a:spcAft>
            </a:pPr>
            <a:r>
              <a:rPr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b="1" dirty="0">
                <a:solidFill>
                  <a:srgbClr val="F8FAFC"/>
                </a:solidFill>
                <a:latin typeface="Segoe UI"/>
              </a:rPr>
              <a:t>High Walkable Distances</a:t>
            </a:r>
            <a:r>
              <a:rPr b="0" dirty="0">
                <a:solidFill>
                  <a:srgbClr val="F8FAFC"/>
                </a:solidFill>
                <a:latin typeface="Segoe UI"/>
              </a:rPr>
              <a:t>: New buildings placed far from target students, increasing daily walking commutes.</a:t>
            </a:r>
          </a:p>
          <a:p>
            <a:pPr>
              <a:spcAft>
                <a:spcPts val="1200"/>
              </a:spcAft>
            </a:pPr>
            <a:r>
              <a:rPr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b="1" dirty="0">
                <a:solidFill>
                  <a:srgbClr val="F8FAFC"/>
                </a:solidFill>
                <a:latin typeface="Segoe UI"/>
              </a:rPr>
              <a:t>Zoning &amp; Utility Conflicts</a:t>
            </a:r>
            <a:r>
              <a:rPr b="0" dirty="0">
                <a:solidFill>
                  <a:srgbClr val="F8FAFC"/>
                </a:solidFill>
                <a:latin typeface="Segoe UI"/>
              </a:rPr>
              <a:t>: Placing hostels without proper zoning segregation, or far from electrical/water nodes (raising costs).</a:t>
            </a:r>
          </a:p>
          <a:p>
            <a:pPr>
              <a:spcAft>
                <a:spcPts val="1200"/>
              </a:spcAft>
            </a:pPr>
            <a:r>
              <a:rPr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b="1" dirty="0">
                <a:solidFill>
                  <a:srgbClr val="F8FAFC"/>
                </a:solidFill>
                <a:latin typeface="Segoe UI"/>
              </a:rPr>
              <a:t>Inefficient Land Use</a:t>
            </a:r>
            <a:r>
              <a:rPr b="0" dirty="0">
                <a:solidFill>
                  <a:srgbClr val="F8FAFC"/>
                </a:solidFill>
                <a:latin typeface="Segoe UI"/>
              </a:rPr>
              <a:t>: Arbitrary allocation of the 200+ acre campus without systematic evaluation of undeveloped parcels.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Proposed System Architecture &amp;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50592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450592" cy="1974900"/>
          </a:xfrm>
          <a:prstGeom prst="rect">
            <a:avLst/>
          </a:prstGeom>
          <a:noFill/>
        </p:spPr>
        <p:txBody>
          <a:bodyPr wrap="square" lIns="182880" tIns="182880" rIns="182880" bIns="18288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B8A6"/>
                </a:solidFill>
                <a:latin typeface="Segoe UI"/>
              </a:defRPr>
            </a:pPr>
            <a:r>
              <a:rPr dirty="0"/>
              <a:t>A. GIS &amp; Network</a:t>
            </a:r>
          </a:p>
          <a:p>
            <a:pPr>
              <a:spcAft>
                <a:spcPts val="6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Digitize footprints, </a:t>
            </a:r>
            <a:r>
              <a:rPr sz="1600" b="1" dirty="0">
                <a:solidFill>
                  <a:srgbClr val="F8FAFC"/>
                </a:solidFill>
                <a:latin typeface="Segoe UI"/>
              </a:rPr>
              <a:t>road network graph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 (walkable routes), and undeveloped zoned parcels.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463040"/>
            <a:ext cx="2450592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56432" y="1463040"/>
            <a:ext cx="2450592" cy="1974900"/>
          </a:xfrm>
          <a:prstGeom prst="rect">
            <a:avLst/>
          </a:prstGeom>
          <a:noFill/>
        </p:spPr>
        <p:txBody>
          <a:bodyPr wrap="square" lIns="182880" tIns="182880" rIns="182880" bIns="18288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B8A6"/>
                </a:solidFill>
                <a:latin typeface="Segoe UI"/>
              </a:defRPr>
            </a:pPr>
            <a:r>
              <a:rPr dirty="0"/>
              <a:t>B. Demand Engine</a:t>
            </a:r>
          </a:p>
          <a:p>
            <a:pPr>
              <a:spcAft>
                <a:spcPts val="6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Regress exam metrics (appeared vs. passed) to forecast </a:t>
            </a:r>
            <a:r>
              <a:rPr sz="1600" b="1" dirty="0">
                <a:solidFill>
                  <a:srgbClr val="F8FAFC"/>
                </a:solidFill>
                <a:latin typeface="Segoe UI"/>
              </a:rPr>
              <a:t>multi-year seat demand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 per course.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463040"/>
            <a:ext cx="2450592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81344" y="1463040"/>
            <a:ext cx="2450592" cy="1974900"/>
          </a:xfrm>
          <a:prstGeom prst="rect">
            <a:avLst/>
          </a:prstGeom>
          <a:noFill/>
        </p:spPr>
        <p:txBody>
          <a:bodyPr wrap="square" lIns="182880" tIns="182880" rIns="182880" bIns="18288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B8A6"/>
                </a:solidFill>
                <a:latin typeface="Segoe UI"/>
              </a:defRPr>
            </a:pPr>
            <a:r>
              <a:rPr dirty="0"/>
              <a:t>C. Threshold Rules</a:t>
            </a:r>
          </a:p>
          <a:p>
            <a:pPr>
              <a:spcAft>
                <a:spcPts val="6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Trigger alerts when utilization crosses a </a:t>
            </a:r>
            <a:r>
              <a:rPr sz="1600" b="1" dirty="0">
                <a:solidFill>
                  <a:srgbClr val="F8FAFC"/>
                </a:solidFill>
                <a:latin typeface="Segoe UI"/>
              </a:rPr>
              <a:t>configurable threshold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 (e.g. 85% occupancy).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463040"/>
            <a:ext cx="2450592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06256" y="1463040"/>
            <a:ext cx="2450592" cy="1974900"/>
          </a:xfrm>
          <a:prstGeom prst="rect">
            <a:avLst/>
          </a:prstGeom>
          <a:noFill/>
        </p:spPr>
        <p:txBody>
          <a:bodyPr wrap="square" lIns="182880" tIns="182880" rIns="182880" bIns="18288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B8A6"/>
                </a:solidFill>
                <a:latin typeface="Segoe UI"/>
              </a:defRPr>
            </a:pPr>
            <a:r>
              <a:rPr dirty="0"/>
              <a:t>D. p-Median Solver</a:t>
            </a:r>
          </a:p>
          <a:p>
            <a:pPr>
              <a:spcAft>
                <a:spcPts val="6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Formulate weighted site selection on graph via </a:t>
            </a:r>
            <a:r>
              <a:rPr sz="1600" b="1" dirty="0" err="1">
                <a:solidFill>
                  <a:srgbClr val="F8FAFC"/>
                </a:solidFill>
                <a:latin typeface="Segoe UI"/>
              </a:rPr>
              <a:t>PuLP</a:t>
            </a:r>
            <a:r>
              <a:rPr sz="1600" b="1" dirty="0">
                <a:solidFill>
                  <a:srgbClr val="F8FAFC"/>
                </a:solidFill>
                <a:latin typeface="Segoe UI"/>
              </a:rPr>
              <a:t> / </a:t>
            </a:r>
            <a:r>
              <a:rPr sz="1600" b="1" dirty="0" err="1">
                <a:solidFill>
                  <a:srgbClr val="F8FAFC"/>
                </a:solidFill>
                <a:latin typeface="Segoe UI"/>
              </a:rPr>
              <a:t>NetworkX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 to minimize distance to hubs.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725912" cy="24776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8" y="3877479"/>
            <a:ext cx="10725912" cy="2477601"/>
          </a:xfrm>
          <a:prstGeom prst="rect">
            <a:avLst/>
          </a:prstGeom>
          <a:noFill/>
        </p:spPr>
        <p:txBody>
          <a:bodyPr wrap="square" lIns="182880" tIns="182880" rIns="182880" bIns="18288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97316"/>
                </a:solidFill>
                <a:latin typeface="Segoe UI"/>
              </a:defRPr>
            </a:pPr>
            <a:r>
              <a:rPr dirty="0"/>
              <a:t>Decision Support Dashboard (Leaflet.js / </a:t>
            </a:r>
            <a:r>
              <a:rPr dirty="0" err="1"/>
              <a:t>Mapbox</a:t>
            </a:r>
            <a:r>
              <a:rPr dirty="0"/>
              <a:t>)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600" b="1" dirty="0">
                <a:solidFill>
                  <a:srgbClr val="F8FAFC"/>
                </a:solidFill>
                <a:latin typeface="Segoe UI"/>
              </a:rPr>
              <a:t>Interactive Spatial Visualizations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: Renders campus maps with color-coded building occupancies, highlighting critical breaches.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600" b="1" dirty="0">
                <a:solidFill>
                  <a:srgbClr val="F8FAFC"/>
                </a:solidFill>
                <a:latin typeface="Segoe UI"/>
              </a:rPr>
              <a:t>Siting Recommendations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: Highlights proposed undeveloped parcels, showing optimized walkable paths, utility accessibility, and urgency scores.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600" b="1" dirty="0">
                <a:solidFill>
                  <a:srgbClr val="F8FAFC"/>
                </a:solidFill>
                <a:latin typeface="Segoe UI"/>
              </a:rPr>
              <a:t>Feedback Loop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: Updates the GIS spatial database once administrative approval initiates construction, updating the network graph layout.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Literature Inspiration: GeoAI in Urban Planning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657600" cy="51663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45480"/>
            <a:ext cx="3657600" cy="5401479"/>
          </a:xfrm>
          <a:prstGeom prst="rect">
            <a:avLst/>
          </a:prstGeom>
          <a:noFill/>
        </p:spPr>
        <p:txBody>
          <a:bodyPr wrap="square" lIns="182880" tIns="182880" rIns="182880" bIns="18288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B8A6"/>
                </a:solidFill>
                <a:latin typeface="Segoe UI"/>
              </a:defRPr>
            </a:pPr>
            <a:r>
              <a:rPr dirty="0"/>
              <a:t>Underpinning Literature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F8FAFC"/>
                </a:solidFill>
                <a:latin typeface="Segoe UI"/>
              </a:rPr>
              <a:t>Source Paper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: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"Advancing Urban Analytics: </a:t>
            </a:r>
            <a:r>
              <a:rPr sz="1600" b="0" dirty="0" err="1">
                <a:solidFill>
                  <a:srgbClr val="F8FAFC"/>
                </a:solidFill>
                <a:latin typeface="Segoe UI"/>
              </a:rPr>
              <a:t>GeoAI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 Applications in Spatial Decision-Making and Sustainable Cities"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F8FAFC"/>
                </a:solidFill>
                <a:latin typeface="Segoe UI"/>
              </a:rPr>
              <a:t>Author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: Sorin Avram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F8FAFC"/>
                </a:solidFill>
                <a:latin typeface="Segoe UI"/>
              </a:rPr>
              <a:t>Affiliation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: University of Craiova / Romanian Academy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F8FAFC"/>
                </a:solidFill>
                <a:latin typeface="Segoe UI"/>
              </a:rPr>
              <a:t>Published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: March 2026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F8FAFC"/>
                </a:solidFill>
                <a:latin typeface="Segoe UI"/>
              </a:rPr>
              <a:t>Journal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: MDPI *Urban Science*</a:t>
            </a:r>
          </a:p>
          <a:p>
            <a:pPr>
              <a:spcAft>
                <a:spcPts val="800"/>
              </a:spcAft>
            </a:pPr>
            <a:endParaRPr sz="1600" b="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F8FAFC"/>
                </a:solidFill>
                <a:latin typeface="Segoe UI"/>
              </a:rPr>
              <a:t>Review Scope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: Synthesizes deep learning, Graph Neural Networks, and ensemble models for spatial analytics, mapping green equity, and optimizing infrastructure accessibility.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463039"/>
            <a:ext cx="6885432" cy="1502635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54296" y="1330409"/>
            <a:ext cx="6885432" cy="1779974"/>
          </a:xfrm>
          <a:prstGeom prst="rect">
            <a:avLst/>
          </a:prstGeom>
          <a:noFill/>
        </p:spPr>
        <p:txBody>
          <a:bodyPr wrap="square" lIns="182880" tIns="182880" rIns="182880" bIns="18288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B8A6"/>
                </a:solidFill>
                <a:latin typeface="Segoe UI"/>
              </a:defRPr>
            </a:pPr>
            <a:r>
              <a:rPr dirty="0"/>
              <a:t>1. CNN-Based Feature Extraction</a:t>
            </a:r>
          </a:p>
          <a:p>
            <a:pPr>
              <a:spcAft>
                <a:spcPts val="4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600" b="1" dirty="0">
                <a:solidFill>
                  <a:srgbClr val="F8FAFC"/>
                </a:solidFill>
                <a:latin typeface="Segoe UI"/>
              </a:rPr>
              <a:t>Literature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: Uses U-Net/DeepLabv3+ with height data (</a:t>
            </a:r>
            <a:r>
              <a:rPr sz="1600" b="0" dirty="0" err="1">
                <a:solidFill>
                  <a:srgbClr val="F8FAFC"/>
                </a:solidFill>
                <a:latin typeface="Segoe UI"/>
              </a:rPr>
              <a:t>nDSM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) to extract precise building footprints.</a:t>
            </a:r>
          </a:p>
          <a:p>
            <a:pPr>
              <a:spcAft>
                <a:spcPts val="4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600" b="1" dirty="0">
                <a:solidFill>
                  <a:srgbClr val="F8FAFC"/>
                </a:solidFill>
                <a:latin typeface="Segoe UI"/>
              </a:rPr>
              <a:t>Application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: Validates our GIS model approach of mapping base building layers and available parcels.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85716" y="3134796"/>
            <a:ext cx="6912864" cy="16002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54296" y="3005270"/>
            <a:ext cx="6885432" cy="1779974"/>
          </a:xfrm>
          <a:prstGeom prst="rect">
            <a:avLst/>
          </a:prstGeom>
          <a:noFill/>
        </p:spPr>
        <p:txBody>
          <a:bodyPr wrap="square" lIns="182880" tIns="182880" rIns="182880" bIns="18288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B8A6"/>
                </a:solidFill>
                <a:latin typeface="Segoe UI"/>
              </a:defRPr>
            </a:pPr>
            <a:r>
              <a:rPr dirty="0"/>
              <a:t>2. Graph Networks for Spatial Analysis</a:t>
            </a:r>
          </a:p>
          <a:p>
            <a:pPr>
              <a:spcAft>
                <a:spcPts val="4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600" b="1" dirty="0">
                <a:solidFill>
                  <a:srgbClr val="F8FAFC"/>
                </a:solidFill>
                <a:latin typeface="Segoe UI"/>
              </a:rPr>
              <a:t>Literature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: Represents transport networks as GNN-ready graphs rather than pixel matrices.</a:t>
            </a:r>
          </a:p>
          <a:p>
            <a:pPr>
              <a:spcAft>
                <a:spcPts val="4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600" b="1" dirty="0">
                <a:solidFill>
                  <a:srgbClr val="F8FAFC"/>
                </a:solidFill>
                <a:latin typeface="Segoe UI"/>
              </a:rPr>
              <a:t>Application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: Anchors our walkability modeling, routing via </a:t>
            </a:r>
            <a:r>
              <a:rPr sz="1600" b="0" dirty="0" err="1">
                <a:solidFill>
                  <a:srgbClr val="F8FAFC"/>
                </a:solidFill>
                <a:latin typeface="Segoe UI"/>
              </a:rPr>
              <a:t>NetworkX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 (Dijkstra/A*) on walkable edges.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99432" y="5083890"/>
            <a:ext cx="6885432" cy="1481328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54296" y="4939096"/>
            <a:ext cx="6885432" cy="1779974"/>
          </a:xfrm>
          <a:prstGeom prst="rect">
            <a:avLst/>
          </a:prstGeom>
          <a:noFill/>
        </p:spPr>
        <p:txBody>
          <a:bodyPr wrap="square" lIns="182880" tIns="182880" rIns="182880" bIns="18288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B8A6"/>
                </a:solidFill>
                <a:latin typeface="Segoe UI"/>
              </a:defRPr>
            </a:pPr>
            <a:r>
              <a:rPr dirty="0"/>
              <a:t>3. Spatial Decision Support Systems (SDSS)</a:t>
            </a:r>
          </a:p>
          <a:p>
            <a:pPr>
              <a:spcAft>
                <a:spcPts val="4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600" b="1" dirty="0">
                <a:solidFill>
                  <a:srgbClr val="F8FAFC"/>
                </a:solidFill>
                <a:latin typeface="Segoe UI"/>
              </a:rPr>
              <a:t>Literature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: Combines accessibility metrics and GIS buffers to map service gaps (e.g. pharmacy access).</a:t>
            </a:r>
          </a:p>
          <a:p>
            <a:pPr>
              <a:spcAft>
                <a:spcPts val="4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600" b="1" dirty="0">
                <a:solidFill>
                  <a:srgbClr val="F8FAFC"/>
                </a:solidFill>
                <a:latin typeface="Segoe UI"/>
              </a:rPr>
              <a:t>Application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: Guides our p-median optimizer, balancing walking distance and zoning constraints.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Limitations &amp;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234440"/>
            <a:ext cx="5175504" cy="53035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0537" y="1122790"/>
            <a:ext cx="5184521" cy="5545108"/>
          </a:xfrm>
          <a:prstGeom prst="rect">
            <a:avLst/>
          </a:prstGeom>
          <a:noFill/>
        </p:spPr>
        <p:txBody>
          <a:bodyPr wrap="square" lIns="182880" tIns="182880" rIns="182880" bIns="18288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97316"/>
                </a:solidFill>
                <a:latin typeface="Segoe UI"/>
              </a:defRPr>
            </a:pPr>
            <a:r>
              <a:rPr dirty="0"/>
              <a:t>Gaps in Current </a:t>
            </a:r>
            <a:r>
              <a:rPr dirty="0" err="1"/>
              <a:t>GeoAI</a:t>
            </a:r>
            <a:r>
              <a:rPr dirty="0"/>
              <a:t> Literature (Avram, 2026)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600" b="1" dirty="0">
                <a:solidFill>
                  <a:srgbClr val="F8FAFC"/>
                </a:solidFill>
                <a:latin typeface="Segoe UI"/>
              </a:rPr>
              <a:t>Domain Shift &amp; Transferability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: ML models trained on Global North cities show a 10-15% F1-score drop in the Global South due to distinct construction shapes.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  *Our Mitigation*: Avoid off-the-shelf satellite footprint models; we ingest direct hand-digitized GIS campus models.</a:t>
            </a:r>
          </a:p>
          <a:p>
            <a:pPr>
              <a:spcAft>
                <a:spcPts val="800"/>
              </a:spcAft>
            </a:pPr>
            <a:endParaRPr sz="1600" b="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600" b="1" dirty="0">
                <a:solidFill>
                  <a:srgbClr val="F8FAFC"/>
                </a:solidFill>
                <a:latin typeface="Segoe UI"/>
              </a:rPr>
              <a:t>The 'Black Box' Explainability Gap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: Complex deep neural networks complicate planning justification before local authorities and administrative courts.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  *Our Mitigation*: Use transparent, explainable algorithms (Linear/ARIMA forecasting, deterministic p-median path optimization).</a:t>
            </a:r>
          </a:p>
          <a:p>
            <a:pPr>
              <a:spcAft>
                <a:spcPts val="800"/>
              </a:spcAft>
            </a:pPr>
            <a:endParaRPr sz="1600" b="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600" b="1" dirty="0">
                <a:solidFill>
                  <a:srgbClr val="F8FAFC"/>
                </a:solidFill>
                <a:latin typeface="Segoe UI"/>
              </a:rPr>
              <a:t>Institutional Gaps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: Main gap is embedding outputs into statutory budgets.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3" y="1234440"/>
            <a:ext cx="5184521" cy="53035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519545" y="1147838"/>
            <a:ext cx="5175504" cy="5606663"/>
          </a:xfrm>
          <a:prstGeom prst="rect">
            <a:avLst/>
          </a:prstGeom>
          <a:noFill/>
        </p:spPr>
        <p:txBody>
          <a:bodyPr wrap="square" lIns="182880" tIns="182880" rIns="182880" bIns="18288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3F5E"/>
                </a:solidFill>
                <a:latin typeface="Segoe UI"/>
              </a:defRPr>
            </a:pPr>
            <a:r>
              <a:rPr sz="1600" dirty="0"/>
              <a:t>Project-Specific Limitations &amp; Gaps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600" b="1" dirty="0">
                <a:solidFill>
                  <a:srgbClr val="F8FAFC"/>
                </a:solidFill>
                <a:latin typeface="Segoe UI"/>
              </a:rPr>
              <a:t>Static Road Network Assumption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: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  *Issue*: The walkable network graph is modeled as static.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  *Gap*: Fails to account for temporary path closures (construction, maintenance) or weather-related walkability degradation.</a:t>
            </a:r>
          </a:p>
          <a:p>
            <a:pPr>
              <a:spcAft>
                <a:spcPts val="800"/>
              </a:spcAft>
            </a:pPr>
            <a:endParaRPr sz="1600" b="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600" b="1" dirty="0">
                <a:solidFill>
                  <a:srgbClr val="F8FAFC"/>
                </a:solidFill>
                <a:latin typeface="Segoe UI"/>
              </a:rPr>
              <a:t>Data Ingestion Latency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: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  *Issue*: Seat demand is calculated using annual entrance exam data.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  *Gap*: The system cannot track real-time daily classroom or lab occupancy. In a future scope, IoT occupancy sensors will address this latency.</a:t>
            </a:r>
          </a:p>
          <a:p>
            <a:pPr>
              <a:spcAft>
                <a:spcPts val="800"/>
              </a:spcAft>
            </a:pPr>
            <a:endParaRPr sz="1600" b="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600" b="1" dirty="0">
                <a:solidFill>
                  <a:srgbClr val="F8FAFC"/>
                </a:solidFill>
                <a:latin typeface="Segoe UI"/>
              </a:rPr>
              <a:t>Zoning Rule Simplification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: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  *Issue*: Siting constraints use fixed buffer zones.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Expected Outcomes &amp; Project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097" y="1065276"/>
            <a:ext cx="5175504" cy="5618988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6468" y="1065276"/>
            <a:ext cx="5093081" cy="5514330"/>
          </a:xfrm>
          <a:prstGeom prst="rect">
            <a:avLst/>
          </a:prstGeom>
          <a:noFill/>
        </p:spPr>
        <p:txBody>
          <a:bodyPr wrap="square" lIns="182880" tIns="182880" rIns="182880" bIns="18288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B8A6"/>
                </a:solidFill>
                <a:latin typeface="Segoe UI"/>
              </a:defRPr>
            </a:pPr>
            <a:r>
              <a:rPr dirty="0"/>
              <a:t>Key Project Outcomes</a:t>
            </a:r>
          </a:p>
          <a:p>
            <a:pPr>
              <a:spcAft>
                <a:spcPts val="14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600" b="1" dirty="0">
                <a:solidFill>
                  <a:srgbClr val="F8FAFC"/>
                </a:solidFill>
                <a:latin typeface="Segoe UI"/>
              </a:rPr>
              <a:t>Scientific Siting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: Replaces reactive construction and politics-driven siting with mathematical walking-distance optimization (p-median algorithm).</a:t>
            </a:r>
          </a:p>
          <a:p>
            <a:pPr>
              <a:spcAft>
                <a:spcPts val="1400"/>
              </a:spcAft>
            </a:pPr>
            <a:endParaRPr sz="1600" b="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14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600" b="1" dirty="0">
                <a:solidFill>
                  <a:srgbClr val="F8FAFC"/>
                </a:solidFill>
                <a:latin typeface="Segoe UI"/>
              </a:rPr>
              <a:t>Student Wellness &amp; Efficiency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: Placing hostels, messes, and academic centers optimally reduces daily student commuting times on campus.</a:t>
            </a:r>
          </a:p>
          <a:p>
            <a:pPr>
              <a:spcAft>
                <a:spcPts val="1400"/>
              </a:spcAft>
            </a:pPr>
            <a:endParaRPr sz="1600" b="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14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600" b="1" dirty="0">
                <a:solidFill>
                  <a:srgbClr val="F8FAFC"/>
                </a:solidFill>
                <a:latin typeface="Segoe UI"/>
              </a:rPr>
              <a:t>Transparent Audits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: Renders structured reports for college board of directors to justify construction funding, citing forecasted seat shortages.</a:t>
            </a:r>
          </a:p>
          <a:p>
            <a:pPr>
              <a:spcAft>
                <a:spcPts val="1400"/>
              </a:spcAft>
            </a:pPr>
            <a:endParaRPr sz="1600" b="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1400"/>
              </a:spcAft>
            </a:pPr>
            <a:r>
              <a:rPr sz="16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600" b="1" dirty="0">
                <a:solidFill>
                  <a:srgbClr val="F8FAFC"/>
                </a:solidFill>
                <a:latin typeface="Segoe UI"/>
              </a:rPr>
              <a:t>Extensible Spatial Base</a:t>
            </a:r>
            <a:r>
              <a:rPr sz="1600" b="0" dirty="0">
                <a:solidFill>
                  <a:srgbClr val="F8FAFC"/>
                </a:solidFill>
                <a:latin typeface="Segoe UI"/>
              </a:rPr>
              <a:t>: Establishes a GIS layer that is easily updated with new structures, supporting future smart-campus features.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1060704"/>
            <a:ext cx="5285232" cy="5618988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87732" y="956468"/>
            <a:ext cx="5157216" cy="5955476"/>
          </a:xfrm>
          <a:prstGeom prst="rect">
            <a:avLst/>
          </a:prstGeom>
          <a:noFill/>
        </p:spPr>
        <p:txBody>
          <a:bodyPr wrap="square" lIns="182880" tIns="182880" rIns="182880" bIns="18288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97316"/>
                </a:solidFill>
                <a:latin typeface="Segoe UI"/>
              </a:defRPr>
            </a:pPr>
            <a:r>
              <a:rPr dirty="0"/>
              <a:t>Development Timeline (18-Week Roadmap)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400" b="1" dirty="0">
                <a:solidFill>
                  <a:srgbClr val="F8FAFC"/>
                </a:solidFill>
                <a:latin typeface="Segoe UI"/>
              </a:rPr>
              <a:t>Phase 1: GIS Base Layer (Weeks 1-3)</a:t>
            </a:r>
            <a:r>
              <a:rPr sz="1400" b="0" dirty="0">
                <a:solidFill>
                  <a:srgbClr val="F8FAFC"/>
                </a:solidFill>
                <a:latin typeface="Segoe UI"/>
              </a:rPr>
              <a:t>: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F8FAFC"/>
                </a:solidFill>
                <a:latin typeface="Segoe UI"/>
              </a:rPr>
              <a:t>  Digitize road network graph, candidate parcels, and existing structures in QGIS.</a:t>
            </a:r>
          </a:p>
          <a:p>
            <a:pPr>
              <a:spcAft>
                <a:spcPts val="800"/>
              </a:spcAft>
            </a:pPr>
            <a:endParaRPr sz="1400" b="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400" b="1" dirty="0">
                <a:solidFill>
                  <a:srgbClr val="F8FAFC"/>
                </a:solidFill>
                <a:latin typeface="Segoe UI"/>
              </a:rPr>
              <a:t>Phase 2: Demand Engine Calibration (Weeks 4-6)</a:t>
            </a:r>
            <a:r>
              <a:rPr sz="1400" b="0" dirty="0">
                <a:solidFill>
                  <a:srgbClr val="F8FAFC"/>
                </a:solidFill>
                <a:latin typeface="Segoe UI"/>
              </a:rPr>
              <a:t>: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F8FAFC"/>
                </a:solidFill>
                <a:latin typeface="Segoe UI"/>
              </a:rPr>
              <a:t>  Clean entrance exam files, write forecasting pipelines (regression/ARIMA).</a:t>
            </a:r>
          </a:p>
          <a:p>
            <a:pPr>
              <a:spcAft>
                <a:spcPts val="800"/>
              </a:spcAft>
            </a:pPr>
            <a:endParaRPr sz="1400" b="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400" b="1" dirty="0">
                <a:solidFill>
                  <a:srgbClr val="F8FAFC"/>
                </a:solidFill>
                <a:latin typeface="Segoe UI"/>
              </a:rPr>
              <a:t>Phase 3: Threshold Setup (Weeks 7-9)</a:t>
            </a:r>
            <a:r>
              <a:rPr sz="1400" b="0" dirty="0">
                <a:solidFill>
                  <a:srgbClr val="F8FAFC"/>
                </a:solidFill>
                <a:latin typeface="Segoe UI"/>
              </a:rPr>
              <a:t>: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F8FAFC"/>
                </a:solidFill>
                <a:latin typeface="Segoe UI"/>
              </a:rPr>
              <a:t>  Map physical capacity ratios and develop the trigger alert engine.</a:t>
            </a:r>
          </a:p>
          <a:p>
            <a:pPr>
              <a:spcAft>
                <a:spcPts val="800"/>
              </a:spcAft>
            </a:pPr>
            <a:endParaRPr sz="1400" b="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400" b="1" dirty="0">
                <a:solidFill>
                  <a:srgbClr val="F8FAFC"/>
                </a:solidFill>
                <a:latin typeface="Segoe UI"/>
              </a:rPr>
              <a:t>Phase 4: p-Median Optimizer Build (Weeks 10-12)</a:t>
            </a:r>
            <a:r>
              <a:rPr sz="1400" b="0" dirty="0">
                <a:solidFill>
                  <a:srgbClr val="F8FAFC"/>
                </a:solidFill>
                <a:latin typeface="Segoe UI"/>
              </a:rPr>
              <a:t>: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F8FAFC"/>
                </a:solidFill>
                <a:latin typeface="Segoe UI"/>
              </a:rPr>
              <a:t>  Write </a:t>
            </a:r>
            <a:r>
              <a:rPr sz="1400" b="0" dirty="0" err="1">
                <a:solidFill>
                  <a:srgbClr val="F8FAFC"/>
                </a:solidFill>
                <a:latin typeface="Segoe UI"/>
              </a:rPr>
              <a:t>PuLP</a:t>
            </a:r>
            <a:r>
              <a:rPr sz="1400" b="0" dirty="0">
                <a:solidFill>
                  <a:srgbClr val="F8FAFC"/>
                </a:solidFill>
                <a:latin typeface="Segoe UI"/>
              </a:rPr>
              <a:t> optimization script integrated with Dijkstra paths from </a:t>
            </a:r>
            <a:r>
              <a:rPr sz="1400" b="0" dirty="0" err="1">
                <a:solidFill>
                  <a:srgbClr val="F8FAFC"/>
                </a:solidFill>
                <a:latin typeface="Segoe UI"/>
              </a:rPr>
              <a:t>NetworkX</a:t>
            </a:r>
            <a:r>
              <a:rPr sz="1400" b="0" dirty="0">
                <a:solidFill>
                  <a:srgbClr val="F8FAFC"/>
                </a:solidFill>
                <a:latin typeface="Segoe UI"/>
              </a:rPr>
              <a:t>.</a:t>
            </a:r>
          </a:p>
          <a:p>
            <a:pPr>
              <a:spcAft>
                <a:spcPts val="800"/>
              </a:spcAft>
            </a:pPr>
            <a:endParaRPr sz="1400" b="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400" b="1" dirty="0">
                <a:solidFill>
                  <a:srgbClr val="F8FAFC"/>
                </a:solidFill>
                <a:latin typeface="Segoe UI"/>
              </a:rPr>
              <a:t>Phase 5-6: Web Dashboard Integration (Weeks 13-18)</a:t>
            </a:r>
            <a:r>
              <a:rPr sz="1400" b="0" dirty="0">
                <a:solidFill>
                  <a:srgbClr val="F8FAFC"/>
                </a:solidFill>
                <a:latin typeface="Segoe UI"/>
              </a:rPr>
              <a:t>: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F8FAFC"/>
                </a:solidFill>
                <a:latin typeface="Segoe UI"/>
              </a:rPr>
              <a:t>  Build Flask backend and Leaflet.js interactive maps.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1260</Words>
  <Application>Microsoft Office PowerPoint</Application>
  <PresentationFormat>Custom</PresentationFormat>
  <Paragraphs>117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Amrit Mahato</cp:lastModifiedBy>
  <cp:revision>4</cp:revision>
  <dcterms:created xsi:type="dcterms:W3CDTF">2013-01-27T09:14:16Z</dcterms:created>
  <dcterms:modified xsi:type="dcterms:W3CDTF">2026-08-12T05:01:15Z</dcterms:modified>
  <cp:category/>
</cp:coreProperties>
</file>